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48413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48413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48413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3236" y="1701800"/>
            <a:ext cx="4989830" cy="3707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736558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48413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9F6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37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481" y="344480"/>
            <a:ext cx="6086878" cy="6492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48413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9F6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73625" y="2197100"/>
            <a:ext cx="420878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-80"/>
              <a:t>Customer</a:t>
            </a:r>
            <a:r>
              <a:rPr dirty="0" spc="-85"/>
              <a:t> </a:t>
            </a:r>
            <a:r>
              <a:rPr dirty="0" spc="-75"/>
              <a:t>Shopping Behavior</a:t>
            </a:r>
            <a:r>
              <a:rPr dirty="0" spc="-80"/>
              <a:t> </a:t>
            </a:r>
            <a:r>
              <a:rPr dirty="0" spc="-10"/>
              <a:t>Analysis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73625" y="3536315"/>
            <a:ext cx="539115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Uncovering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insights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from</a:t>
            </a:r>
            <a:r>
              <a:rPr dirty="0" sz="1350" spc="-2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transactional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data</a:t>
            </a:r>
            <a:r>
              <a:rPr dirty="0" sz="1350" spc="-2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to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guide</a:t>
            </a:r>
            <a:r>
              <a:rPr dirty="0" sz="1350" spc="-2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strategic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business decisions.</a:t>
            </a:r>
            <a:endParaRPr sz="1350">
              <a:latin typeface="Georgia"/>
              <a:cs typeface="Georgia"/>
            </a:endParaRPr>
          </a:p>
        </p:txBody>
      </p:sp>
      <p:pic>
        <p:nvPicPr>
          <p:cNvPr id="6" name="object 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9F6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73625" y="1025525"/>
            <a:ext cx="36271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65"/>
              <a:t>Project</a:t>
            </a:r>
            <a:r>
              <a:rPr dirty="0" spc="-145"/>
              <a:t> </a:t>
            </a:r>
            <a:r>
              <a:rPr dirty="0" spc="-60"/>
              <a:t>Overview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86324" y="1876424"/>
            <a:ext cx="2886075" cy="1790700"/>
            <a:chOff x="4886324" y="1876424"/>
            <a:chExt cx="2886075" cy="1790700"/>
          </a:xfrm>
        </p:grpSpPr>
        <p:sp>
          <p:nvSpPr>
            <p:cNvPr id="6" name="object 6"/>
            <p:cNvSpPr/>
            <p:nvPr/>
          </p:nvSpPr>
          <p:spPr>
            <a:xfrm>
              <a:off x="4895850" y="2133599"/>
              <a:ext cx="2867025" cy="1524000"/>
            </a:xfrm>
            <a:custGeom>
              <a:avLst/>
              <a:gdLst/>
              <a:ahLst/>
              <a:cxnLst/>
              <a:rect l="l" t="t" r="r" b="b"/>
              <a:pathLst>
                <a:path w="2867025" h="1524000">
                  <a:moveTo>
                    <a:pt x="2804731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512100"/>
                  </a:lnTo>
                  <a:lnTo>
                    <a:pt x="0" y="1515376"/>
                  </a:lnTo>
                  <a:lnTo>
                    <a:pt x="1155" y="1518183"/>
                  </a:lnTo>
                  <a:lnTo>
                    <a:pt x="5803" y="1522831"/>
                  </a:lnTo>
                  <a:lnTo>
                    <a:pt x="8623" y="1524000"/>
                  </a:lnTo>
                  <a:lnTo>
                    <a:pt x="2858401" y="1524000"/>
                  </a:lnTo>
                  <a:lnTo>
                    <a:pt x="2861208" y="1522831"/>
                  </a:lnTo>
                  <a:lnTo>
                    <a:pt x="2865856" y="1518183"/>
                  </a:lnTo>
                  <a:lnTo>
                    <a:pt x="2867025" y="1515376"/>
                  </a:lnTo>
                  <a:lnTo>
                    <a:pt x="2867025" y="71196"/>
                  </a:lnTo>
                  <a:lnTo>
                    <a:pt x="2853347" y="29705"/>
                  </a:lnTo>
                  <a:lnTo>
                    <a:pt x="2821825" y="3886"/>
                  </a:lnTo>
                  <a:lnTo>
                    <a:pt x="2809062" y="482"/>
                  </a:lnTo>
                  <a:lnTo>
                    <a:pt x="2804731" y="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886312" y="2134450"/>
              <a:ext cx="2886075" cy="1532890"/>
            </a:xfrm>
            <a:custGeom>
              <a:avLst/>
              <a:gdLst/>
              <a:ahLst/>
              <a:cxnLst/>
              <a:rect l="l" t="t" r="r" b="b"/>
              <a:pathLst>
                <a:path w="2886075" h="1532889">
                  <a:moveTo>
                    <a:pt x="2886075" y="75361"/>
                  </a:moveTo>
                  <a:lnTo>
                    <a:pt x="2873248" y="33020"/>
                  </a:lnTo>
                  <a:lnTo>
                    <a:pt x="2839034" y="4965"/>
                  </a:lnTo>
                  <a:lnTo>
                    <a:pt x="2820644" y="0"/>
                  </a:lnTo>
                  <a:lnTo>
                    <a:pt x="2824746" y="1092"/>
                  </a:lnTo>
                  <a:lnTo>
                    <a:pt x="2838742" y="8826"/>
                  </a:lnTo>
                  <a:lnTo>
                    <a:pt x="2862669" y="46202"/>
                  </a:lnTo>
                  <a:lnTo>
                    <a:pt x="2867025" y="75361"/>
                  </a:lnTo>
                  <a:lnTo>
                    <a:pt x="2867025" y="1512849"/>
                  </a:lnTo>
                  <a:lnTo>
                    <a:pt x="2866631" y="1513243"/>
                  </a:lnTo>
                  <a:lnTo>
                    <a:pt x="2866237" y="1513636"/>
                  </a:lnTo>
                  <a:lnTo>
                    <a:pt x="19850" y="1513636"/>
                  </a:lnTo>
                  <a:lnTo>
                    <a:pt x="19050" y="1512849"/>
                  </a:lnTo>
                  <a:lnTo>
                    <a:pt x="19050" y="75361"/>
                  </a:lnTo>
                  <a:lnTo>
                    <a:pt x="19329" y="67843"/>
                  </a:lnTo>
                  <a:lnTo>
                    <a:pt x="32004" y="27038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517180"/>
                  </a:lnTo>
                  <a:lnTo>
                    <a:pt x="2095" y="1522222"/>
                  </a:lnTo>
                  <a:lnTo>
                    <a:pt x="6756" y="1526882"/>
                  </a:lnTo>
                  <a:lnTo>
                    <a:pt x="10464" y="1530591"/>
                  </a:lnTo>
                  <a:lnTo>
                    <a:pt x="15506" y="1532686"/>
                  </a:lnTo>
                  <a:lnTo>
                    <a:pt x="2870568" y="1532686"/>
                  </a:lnTo>
                  <a:lnTo>
                    <a:pt x="2875610" y="1530591"/>
                  </a:lnTo>
                  <a:lnTo>
                    <a:pt x="2879318" y="1526882"/>
                  </a:lnTo>
                  <a:lnTo>
                    <a:pt x="2879801" y="1526400"/>
                  </a:lnTo>
                  <a:lnTo>
                    <a:pt x="2883979" y="1522222"/>
                  </a:lnTo>
                  <a:lnTo>
                    <a:pt x="2886075" y="1517180"/>
                  </a:lnTo>
                  <a:lnTo>
                    <a:pt x="2886075" y="75361"/>
                  </a:lnTo>
                  <a:close/>
                </a:path>
              </a:pathLst>
            </a:custGeom>
            <a:solidFill>
              <a:srgbClr val="D4CE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886325" y="1876424"/>
              <a:ext cx="2886075" cy="514350"/>
            </a:xfrm>
            <a:custGeom>
              <a:avLst/>
              <a:gdLst/>
              <a:ahLst/>
              <a:cxnLst/>
              <a:rect l="l" t="t" r="r" b="b"/>
              <a:pathLst>
                <a:path w="2886075" h="514350">
                  <a:moveTo>
                    <a:pt x="2886075" y="256717"/>
                  </a:moveTo>
                  <a:lnTo>
                    <a:pt x="2867482" y="238125"/>
                  </a:lnTo>
                  <a:lnTo>
                    <a:pt x="1704340" y="238125"/>
                  </a:lnTo>
                  <a:lnTo>
                    <a:pt x="1702917" y="223583"/>
                  </a:lnTo>
                  <a:lnTo>
                    <a:pt x="1691449" y="174459"/>
                  </a:lnTo>
                  <a:lnTo>
                    <a:pt x="1670634" y="128511"/>
                  </a:lnTo>
                  <a:lnTo>
                    <a:pt x="1641259" y="87515"/>
                  </a:lnTo>
                  <a:lnTo>
                    <a:pt x="1604441" y="53035"/>
                  </a:lnTo>
                  <a:lnTo>
                    <a:pt x="1561592" y="26403"/>
                  </a:lnTo>
                  <a:lnTo>
                    <a:pt x="1514386" y="8623"/>
                  </a:lnTo>
                  <a:lnTo>
                    <a:pt x="1464627" y="406"/>
                  </a:lnTo>
                  <a:lnTo>
                    <a:pt x="1456220" y="0"/>
                  </a:lnTo>
                  <a:lnTo>
                    <a:pt x="1439379" y="0"/>
                  </a:lnTo>
                  <a:lnTo>
                    <a:pt x="1389367" y="6578"/>
                  </a:lnTo>
                  <a:lnTo>
                    <a:pt x="1341602" y="22796"/>
                  </a:lnTo>
                  <a:lnTo>
                    <a:pt x="1297901" y="48018"/>
                  </a:lnTo>
                  <a:lnTo>
                    <a:pt x="1259992" y="81280"/>
                  </a:lnTo>
                  <a:lnTo>
                    <a:pt x="1229271" y="121297"/>
                  </a:lnTo>
                  <a:lnTo>
                    <a:pt x="1206982" y="166535"/>
                  </a:lnTo>
                  <a:lnTo>
                    <a:pt x="1193927" y="215265"/>
                  </a:lnTo>
                  <a:lnTo>
                    <a:pt x="1191247" y="238125"/>
                  </a:lnTo>
                  <a:lnTo>
                    <a:pt x="18592" y="238125"/>
                  </a:lnTo>
                  <a:lnTo>
                    <a:pt x="0" y="256717"/>
                  </a:lnTo>
                  <a:lnTo>
                    <a:pt x="0" y="314325"/>
                  </a:lnTo>
                  <a:lnTo>
                    <a:pt x="1196936" y="314325"/>
                  </a:lnTo>
                  <a:lnTo>
                    <a:pt x="1197203" y="315607"/>
                  </a:lnTo>
                  <a:lnTo>
                    <a:pt x="1213421" y="363372"/>
                  </a:lnTo>
                  <a:lnTo>
                    <a:pt x="1238643" y="407060"/>
                  </a:lnTo>
                  <a:lnTo>
                    <a:pt x="1271905" y="444982"/>
                  </a:lnTo>
                  <a:lnTo>
                    <a:pt x="1311922" y="475691"/>
                  </a:lnTo>
                  <a:lnTo>
                    <a:pt x="1357160" y="497992"/>
                  </a:lnTo>
                  <a:lnTo>
                    <a:pt x="1405890" y="511048"/>
                  </a:lnTo>
                  <a:lnTo>
                    <a:pt x="1439379" y="514350"/>
                  </a:lnTo>
                  <a:lnTo>
                    <a:pt x="1456220" y="514350"/>
                  </a:lnTo>
                  <a:lnTo>
                    <a:pt x="1506232" y="507758"/>
                  </a:lnTo>
                  <a:lnTo>
                    <a:pt x="1553997" y="491553"/>
                  </a:lnTo>
                  <a:lnTo>
                    <a:pt x="1597685" y="466331"/>
                  </a:lnTo>
                  <a:lnTo>
                    <a:pt x="1635607" y="433070"/>
                  </a:lnTo>
                  <a:lnTo>
                    <a:pt x="1666316" y="393052"/>
                  </a:lnTo>
                  <a:lnTo>
                    <a:pt x="1688630" y="347802"/>
                  </a:lnTo>
                  <a:lnTo>
                    <a:pt x="1698637" y="314325"/>
                  </a:lnTo>
                  <a:lnTo>
                    <a:pt x="2886075" y="314325"/>
                  </a:lnTo>
                  <a:lnTo>
                    <a:pt x="2886075" y="256717"/>
                  </a:lnTo>
                  <a:close/>
                </a:path>
              </a:pathLst>
            </a:custGeom>
            <a:solidFill>
              <a:srgbClr val="D3C5B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268148" y="1962785"/>
            <a:ext cx="12255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50" b="1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64125" y="2525712"/>
            <a:ext cx="239141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736458"/>
                </a:solidFill>
                <a:latin typeface="Georgia"/>
                <a:cs typeface="Georgia"/>
              </a:rPr>
              <a:t>Data</a:t>
            </a:r>
            <a:r>
              <a:rPr dirty="0" sz="1650" spc="-80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458"/>
                </a:solidFill>
                <a:latin typeface="Georgia"/>
                <a:cs typeface="Georgia"/>
              </a:rPr>
              <a:t>Source</a:t>
            </a:r>
            <a:endParaRPr sz="16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3,900</a:t>
            </a:r>
            <a:r>
              <a:rPr dirty="0" sz="135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purchases</a:t>
            </a:r>
            <a:r>
              <a:rPr dirty="0" sz="135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across</a:t>
            </a:r>
            <a:r>
              <a:rPr dirty="0" sz="135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various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product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categories.</a:t>
            </a:r>
            <a:endParaRPr sz="1350">
              <a:latin typeface="Georgia"/>
              <a:cs typeface="Georg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43849" y="1876424"/>
            <a:ext cx="2886075" cy="1790700"/>
            <a:chOff x="7943849" y="1876424"/>
            <a:chExt cx="2886075" cy="1790700"/>
          </a:xfrm>
        </p:grpSpPr>
        <p:sp>
          <p:nvSpPr>
            <p:cNvPr id="12" name="object 12"/>
            <p:cNvSpPr/>
            <p:nvPr/>
          </p:nvSpPr>
          <p:spPr>
            <a:xfrm>
              <a:off x="7953374" y="2133599"/>
              <a:ext cx="2867025" cy="1524000"/>
            </a:xfrm>
            <a:custGeom>
              <a:avLst/>
              <a:gdLst/>
              <a:ahLst/>
              <a:cxnLst/>
              <a:rect l="l" t="t" r="r" b="b"/>
              <a:pathLst>
                <a:path w="2867025" h="1524000">
                  <a:moveTo>
                    <a:pt x="2804731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512100"/>
                  </a:lnTo>
                  <a:lnTo>
                    <a:pt x="0" y="1515376"/>
                  </a:lnTo>
                  <a:lnTo>
                    <a:pt x="1155" y="1518183"/>
                  </a:lnTo>
                  <a:lnTo>
                    <a:pt x="5803" y="1522831"/>
                  </a:lnTo>
                  <a:lnTo>
                    <a:pt x="8623" y="1524000"/>
                  </a:lnTo>
                  <a:lnTo>
                    <a:pt x="2858401" y="1524000"/>
                  </a:lnTo>
                  <a:lnTo>
                    <a:pt x="2861208" y="1522831"/>
                  </a:lnTo>
                  <a:lnTo>
                    <a:pt x="2865856" y="1518183"/>
                  </a:lnTo>
                  <a:lnTo>
                    <a:pt x="2867025" y="1515376"/>
                  </a:lnTo>
                  <a:lnTo>
                    <a:pt x="2867025" y="71196"/>
                  </a:lnTo>
                  <a:lnTo>
                    <a:pt x="2853359" y="29705"/>
                  </a:lnTo>
                  <a:lnTo>
                    <a:pt x="2821825" y="3886"/>
                  </a:lnTo>
                  <a:lnTo>
                    <a:pt x="2809062" y="482"/>
                  </a:lnTo>
                  <a:lnTo>
                    <a:pt x="2804731" y="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943837" y="2134450"/>
              <a:ext cx="2886075" cy="1532890"/>
            </a:xfrm>
            <a:custGeom>
              <a:avLst/>
              <a:gdLst/>
              <a:ahLst/>
              <a:cxnLst/>
              <a:rect l="l" t="t" r="r" b="b"/>
              <a:pathLst>
                <a:path w="2886075" h="1532889">
                  <a:moveTo>
                    <a:pt x="2886075" y="75361"/>
                  </a:moveTo>
                  <a:lnTo>
                    <a:pt x="2873248" y="33020"/>
                  </a:lnTo>
                  <a:lnTo>
                    <a:pt x="2839034" y="4965"/>
                  </a:lnTo>
                  <a:lnTo>
                    <a:pt x="2820632" y="0"/>
                  </a:lnTo>
                  <a:lnTo>
                    <a:pt x="2824746" y="1092"/>
                  </a:lnTo>
                  <a:lnTo>
                    <a:pt x="2838742" y="8826"/>
                  </a:lnTo>
                  <a:lnTo>
                    <a:pt x="2862669" y="46202"/>
                  </a:lnTo>
                  <a:lnTo>
                    <a:pt x="2867025" y="75361"/>
                  </a:lnTo>
                  <a:lnTo>
                    <a:pt x="2867025" y="1512849"/>
                  </a:lnTo>
                  <a:lnTo>
                    <a:pt x="2866631" y="1513243"/>
                  </a:lnTo>
                  <a:lnTo>
                    <a:pt x="2866237" y="1513636"/>
                  </a:lnTo>
                  <a:lnTo>
                    <a:pt x="19850" y="1513636"/>
                  </a:lnTo>
                  <a:lnTo>
                    <a:pt x="19050" y="1512849"/>
                  </a:lnTo>
                  <a:lnTo>
                    <a:pt x="19050" y="75361"/>
                  </a:lnTo>
                  <a:lnTo>
                    <a:pt x="19329" y="67843"/>
                  </a:lnTo>
                  <a:lnTo>
                    <a:pt x="32004" y="27038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517180"/>
                  </a:lnTo>
                  <a:lnTo>
                    <a:pt x="2095" y="1522222"/>
                  </a:lnTo>
                  <a:lnTo>
                    <a:pt x="6756" y="1526882"/>
                  </a:lnTo>
                  <a:lnTo>
                    <a:pt x="10464" y="1530591"/>
                  </a:lnTo>
                  <a:lnTo>
                    <a:pt x="15506" y="1532686"/>
                  </a:lnTo>
                  <a:lnTo>
                    <a:pt x="2870568" y="1532686"/>
                  </a:lnTo>
                  <a:lnTo>
                    <a:pt x="2875610" y="1530591"/>
                  </a:lnTo>
                  <a:lnTo>
                    <a:pt x="2879318" y="1526882"/>
                  </a:lnTo>
                  <a:lnTo>
                    <a:pt x="2879801" y="1526400"/>
                  </a:lnTo>
                  <a:lnTo>
                    <a:pt x="2883979" y="1522222"/>
                  </a:lnTo>
                  <a:lnTo>
                    <a:pt x="2886075" y="1517180"/>
                  </a:lnTo>
                  <a:lnTo>
                    <a:pt x="2886075" y="75361"/>
                  </a:lnTo>
                  <a:close/>
                </a:path>
              </a:pathLst>
            </a:custGeom>
            <a:solidFill>
              <a:srgbClr val="D4CE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943850" y="1876424"/>
              <a:ext cx="2886075" cy="514350"/>
            </a:xfrm>
            <a:custGeom>
              <a:avLst/>
              <a:gdLst/>
              <a:ahLst/>
              <a:cxnLst/>
              <a:rect l="l" t="t" r="r" b="b"/>
              <a:pathLst>
                <a:path w="2886075" h="514350">
                  <a:moveTo>
                    <a:pt x="2886075" y="256717"/>
                  </a:moveTo>
                  <a:lnTo>
                    <a:pt x="2867482" y="238125"/>
                  </a:lnTo>
                  <a:lnTo>
                    <a:pt x="1704340" y="238125"/>
                  </a:lnTo>
                  <a:lnTo>
                    <a:pt x="1702917" y="223583"/>
                  </a:lnTo>
                  <a:lnTo>
                    <a:pt x="1691462" y="174459"/>
                  </a:lnTo>
                  <a:lnTo>
                    <a:pt x="1670634" y="128511"/>
                  </a:lnTo>
                  <a:lnTo>
                    <a:pt x="1641259" y="87515"/>
                  </a:lnTo>
                  <a:lnTo>
                    <a:pt x="1604441" y="53035"/>
                  </a:lnTo>
                  <a:lnTo>
                    <a:pt x="1561604" y="26403"/>
                  </a:lnTo>
                  <a:lnTo>
                    <a:pt x="1514398" y="8623"/>
                  </a:lnTo>
                  <a:lnTo>
                    <a:pt x="1464627" y="406"/>
                  </a:lnTo>
                  <a:lnTo>
                    <a:pt x="1456220" y="0"/>
                  </a:lnTo>
                  <a:lnTo>
                    <a:pt x="1439379" y="0"/>
                  </a:lnTo>
                  <a:lnTo>
                    <a:pt x="1389367" y="6578"/>
                  </a:lnTo>
                  <a:lnTo>
                    <a:pt x="1341602" y="22796"/>
                  </a:lnTo>
                  <a:lnTo>
                    <a:pt x="1297914" y="48018"/>
                  </a:lnTo>
                  <a:lnTo>
                    <a:pt x="1259992" y="81280"/>
                  </a:lnTo>
                  <a:lnTo>
                    <a:pt x="1229283" y="121297"/>
                  </a:lnTo>
                  <a:lnTo>
                    <a:pt x="1206982" y="166535"/>
                  </a:lnTo>
                  <a:lnTo>
                    <a:pt x="1193927" y="215265"/>
                  </a:lnTo>
                  <a:lnTo>
                    <a:pt x="1191247" y="238125"/>
                  </a:lnTo>
                  <a:lnTo>
                    <a:pt x="18592" y="238125"/>
                  </a:lnTo>
                  <a:lnTo>
                    <a:pt x="0" y="256717"/>
                  </a:lnTo>
                  <a:lnTo>
                    <a:pt x="0" y="314325"/>
                  </a:lnTo>
                  <a:lnTo>
                    <a:pt x="1196936" y="314325"/>
                  </a:lnTo>
                  <a:lnTo>
                    <a:pt x="1197203" y="315607"/>
                  </a:lnTo>
                  <a:lnTo>
                    <a:pt x="1213421" y="363372"/>
                  </a:lnTo>
                  <a:lnTo>
                    <a:pt x="1238643" y="407060"/>
                  </a:lnTo>
                  <a:lnTo>
                    <a:pt x="1271905" y="444982"/>
                  </a:lnTo>
                  <a:lnTo>
                    <a:pt x="1311922" y="475691"/>
                  </a:lnTo>
                  <a:lnTo>
                    <a:pt x="1357160" y="497992"/>
                  </a:lnTo>
                  <a:lnTo>
                    <a:pt x="1405890" y="511048"/>
                  </a:lnTo>
                  <a:lnTo>
                    <a:pt x="1439379" y="514350"/>
                  </a:lnTo>
                  <a:lnTo>
                    <a:pt x="1456220" y="514350"/>
                  </a:lnTo>
                  <a:lnTo>
                    <a:pt x="1506232" y="507758"/>
                  </a:lnTo>
                  <a:lnTo>
                    <a:pt x="1553997" y="491553"/>
                  </a:lnTo>
                  <a:lnTo>
                    <a:pt x="1597685" y="466331"/>
                  </a:lnTo>
                  <a:lnTo>
                    <a:pt x="1635607" y="433070"/>
                  </a:lnTo>
                  <a:lnTo>
                    <a:pt x="1666316" y="393052"/>
                  </a:lnTo>
                  <a:lnTo>
                    <a:pt x="1688630" y="347802"/>
                  </a:lnTo>
                  <a:lnTo>
                    <a:pt x="1698650" y="314325"/>
                  </a:lnTo>
                  <a:lnTo>
                    <a:pt x="2886075" y="314325"/>
                  </a:lnTo>
                  <a:lnTo>
                    <a:pt x="2886075" y="256717"/>
                  </a:lnTo>
                  <a:close/>
                </a:path>
              </a:pathLst>
            </a:custGeom>
            <a:solidFill>
              <a:srgbClr val="D3C5B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311830" y="1962785"/>
            <a:ext cx="15049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50" b="1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21650" y="2525712"/>
            <a:ext cx="238125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736458"/>
                </a:solidFill>
                <a:latin typeface="Georgia"/>
                <a:cs typeface="Georgia"/>
              </a:rPr>
              <a:t>Key</a:t>
            </a:r>
            <a:r>
              <a:rPr dirty="0" sz="1650" spc="-100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spc="-20" b="1">
                <a:solidFill>
                  <a:srgbClr val="736458"/>
                </a:solidFill>
                <a:latin typeface="Georgia"/>
                <a:cs typeface="Georgia"/>
              </a:rPr>
              <a:t>Goal</a:t>
            </a:r>
            <a:endParaRPr sz="16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Uncover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insights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into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spending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patterns</a:t>
            </a:r>
            <a:r>
              <a:rPr dirty="0" sz="135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and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preferences.</a:t>
            </a:r>
            <a:endParaRPr sz="135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86324" y="3838575"/>
            <a:ext cx="5943600" cy="1524000"/>
            <a:chOff x="4886324" y="3838575"/>
            <a:chExt cx="5943600" cy="1524000"/>
          </a:xfrm>
        </p:grpSpPr>
        <p:sp>
          <p:nvSpPr>
            <p:cNvPr id="18" name="object 18"/>
            <p:cNvSpPr/>
            <p:nvPr/>
          </p:nvSpPr>
          <p:spPr>
            <a:xfrm>
              <a:off x="4895850" y="4095750"/>
              <a:ext cx="5924550" cy="1257300"/>
            </a:xfrm>
            <a:custGeom>
              <a:avLst/>
              <a:gdLst/>
              <a:ahLst/>
              <a:cxnLst/>
              <a:rect l="l" t="t" r="r" b="b"/>
              <a:pathLst>
                <a:path w="5924550" h="1257300">
                  <a:moveTo>
                    <a:pt x="586225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245395"/>
                  </a:lnTo>
                  <a:lnTo>
                    <a:pt x="0" y="1248679"/>
                  </a:lnTo>
                  <a:lnTo>
                    <a:pt x="1155" y="1251487"/>
                  </a:lnTo>
                  <a:lnTo>
                    <a:pt x="5803" y="1256135"/>
                  </a:lnTo>
                  <a:lnTo>
                    <a:pt x="8623" y="1257301"/>
                  </a:lnTo>
                  <a:lnTo>
                    <a:pt x="5915926" y="1257301"/>
                  </a:lnTo>
                  <a:lnTo>
                    <a:pt x="5918733" y="1256135"/>
                  </a:lnTo>
                  <a:lnTo>
                    <a:pt x="5923381" y="1251487"/>
                  </a:lnTo>
                  <a:lnTo>
                    <a:pt x="5924550" y="1248679"/>
                  </a:lnTo>
                  <a:lnTo>
                    <a:pt x="5924550" y="71196"/>
                  </a:lnTo>
                  <a:lnTo>
                    <a:pt x="5910884" y="29705"/>
                  </a:lnTo>
                  <a:lnTo>
                    <a:pt x="5879350" y="3886"/>
                  </a:lnTo>
                  <a:lnTo>
                    <a:pt x="5866587" y="482"/>
                  </a:lnTo>
                  <a:lnTo>
                    <a:pt x="5862256" y="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886312" y="4096600"/>
              <a:ext cx="5943600" cy="1266190"/>
            </a:xfrm>
            <a:custGeom>
              <a:avLst/>
              <a:gdLst/>
              <a:ahLst/>
              <a:cxnLst/>
              <a:rect l="l" t="t" r="r" b="b"/>
              <a:pathLst>
                <a:path w="5943600" h="1266189">
                  <a:moveTo>
                    <a:pt x="5943600" y="75361"/>
                  </a:moveTo>
                  <a:lnTo>
                    <a:pt x="5930773" y="33020"/>
                  </a:lnTo>
                  <a:lnTo>
                    <a:pt x="5896559" y="4965"/>
                  </a:lnTo>
                  <a:lnTo>
                    <a:pt x="5878157" y="0"/>
                  </a:lnTo>
                  <a:lnTo>
                    <a:pt x="5882271" y="1092"/>
                  </a:lnTo>
                  <a:lnTo>
                    <a:pt x="5896267" y="8826"/>
                  </a:lnTo>
                  <a:lnTo>
                    <a:pt x="5920194" y="46202"/>
                  </a:lnTo>
                  <a:lnTo>
                    <a:pt x="5924550" y="75361"/>
                  </a:lnTo>
                  <a:lnTo>
                    <a:pt x="5924550" y="1246136"/>
                  </a:lnTo>
                  <a:lnTo>
                    <a:pt x="5924156" y="1246543"/>
                  </a:lnTo>
                  <a:lnTo>
                    <a:pt x="5923762" y="1246936"/>
                  </a:lnTo>
                  <a:lnTo>
                    <a:pt x="19850" y="1246936"/>
                  </a:lnTo>
                  <a:lnTo>
                    <a:pt x="19050" y="1246136"/>
                  </a:lnTo>
                  <a:lnTo>
                    <a:pt x="19050" y="75361"/>
                  </a:lnTo>
                  <a:lnTo>
                    <a:pt x="19329" y="67843"/>
                  </a:lnTo>
                  <a:lnTo>
                    <a:pt x="32004" y="27038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250467"/>
                  </a:lnTo>
                  <a:lnTo>
                    <a:pt x="2095" y="1255522"/>
                  </a:lnTo>
                  <a:lnTo>
                    <a:pt x="6756" y="1260182"/>
                  </a:lnTo>
                  <a:lnTo>
                    <a:pt x="10464" y="1263891"/>
                  </a:lnTo>
                  <a:lnTo>
                    <a:pt x="15506" y="1265986"/>
                  </a:lnTo>
                  <a:lnTo>
                    <a:pt x="5928093" y="1265986"/>
                  </a:lnTo>
                  <a:lnTo>
                    <a:pt x="5933135" y="1263891"/>
                  </a:lnTo>
                  <a:lnTo>
                    <a:pt x="5936843" y="1260182"/>
                  </a:lnTo>
                  <a:lnTo>
                    <a:pt x="5937326" y="1259700"/>
                  </a:lnTo>
                  <a:lnTo>
                    <a:pt x="5941504" y="1255522"/>
                  </a:lnTo>
                  <a:lnTo>
                    <a:pt x="5943600" y="1250467"/>
                  </a:lnTo>
                  <a:lnTo>
                    <a:pt x="5943600" y="75361"/>
                  </a:lnTo>
                  <a:close/>
                </a:path>
              </a:pathLst>
            </a:custGeom>
            <a:solidFill>
              <a:srgbClr val="D4CE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886325" y="3838587"/>
              <a:ext cx="5943600" cy="514350"/>
            </a:xfrm>
            <a:custGeom>
              <a:avLst/>
              <a:gdLst/>
              <a:ahLst/>
              <a:cxnLst/>
              <a:rect l="l" t="t" r="r" b="b"/>
              <a:pathLst>
                <a:path w="5943600" h="514350">
                  <a:moveTo>
                    <a:pt x="5943600" y="256705"/>
                  </a:moveTo>
                  <a:lnTo>
                    <a:pt x="5925007" y="238112"/>
                  </a:lnTo>
                  <a:lnTo>
                    <a:pt x="3228340" y="238112"/>
                  </a:lnTo>
                  <a:lnTo>
                    <a:pt x="3226917" y="223570"/>
                  </a:lnTo>
                  <a:lnTo>
                    <a:pt x="3215462" y="174447"/>
                  </a:lnTo>
                  <a:lnTo>
                    <a:pt x="3194634" y="128498"/>
                  </a:lnTo>
                  <a:lnTo>
                    <a:pt x="3165259" y="87503"/>
                  </a:lnTo>
                  <a:lnTo>
                    <a:pt x="3128441" y="53022"/>
                  </a:lnTo>
                  <a:lnTo>
                    <a:pt x="3085604" y="26390"/>
                  </a:lnTo>
                  <a:lnTo>
                    <a:pt x="3038398" y="8610"/>
                  </a:lnTo>
                  <a:lnTo>
                    <a:pt x="2988627" y="393"/>
                  </a:lnTo>
                  <a:lnTo>
                    <a:pt x="2980220" y="0"/>
                  </a:lnTo>
                  <a:lnTo>
                    <a:pt x="2963380" y="0"/>
                  </a:lnTo>
                  <a:lnTo>
                    <a:pt x="2913367" y="6565"/>
                  </a:lnTo>
                  <a:lnTo>
                    <a:pt x="2865602" y="22783"/>
                  </a:lnTo>
                  <a:lnTo>
                    <a:pt x="2821914" y="48006"/>
                  </a:lnTo>
                  <a:lnTo>
                    <a:pt x="2783992" y="81267"/>
                  </a:lnTo>
                  <a:lnTo>
                    <a:pt x="2753283" y="121285"/>
                  </a:lnTo>
                  <a:lnTo>
                    <a:pt x="2730982" y="166522"/>
                  </a:lnTo>
                  <a:lnTo>
                    <a:pt x="2717927" y="215252"/>
                  </a:lnTo>
                  <a:lnTo>
                    <a:pt x="2715247" y="238112"/>
                  </a:lnTo>
                  <a:lnTo>
                    <a:pt x="18592" y="238112"/>
                  </a:lnTo>
                  <a:lnTo>
                    <a:pt x="0" y="256705"/>
                  </a:lnTo>
                  <a:lnTo>
                    <a:pt x="0" y="314312"/>
                  </a:lnTo>
                  <a:lnTo>
                    <a:pt x="2720937" y="314312"/>
                  </a:lnTo>
                  <a:lnTo>
                    <a:pt x="2721203" y="315595"/>
                  </a:lnTo>
                  <a:lnTo>
                    <a:pt x="2737421" y="363359"/>
                  </a:lnTo>
                  <a:lnTo>
                    <a:pt x="2762643" y="407047"/>
                  </a:lnTo>
                  <a:lnTo>
                    <a:pt x="2795905" y="444969"/>
                  </a:lnTo>
                  <a:lnTo>
                    <a:pt x="2835922" y="475678"/>
                  </a:lnTo>
                  <a:lnTo>
                    <a:pt x="2881160" y="497979"/>
                  </a:lnTo>
                  <a:lnTo>
                    <a:pt x="2929890" y="511035"/>
                  </a:lnTo>
                  <a:lnTo>
                    <a:pt x="2963380" y="514337"/>
                  </a:lnTo>
                  <a:lnTo>
                    <a:pt x="2980220" y="514337"/>
                  </a:lnTo>
                  <a:lnTo>
                    <a:pt x="3030232" y="507746"/>
                  </a:lnTo>
                  <a:lnTo>
                    <a:pt x="3077997" y="491540"/>
                  </a:lnTo>
                  <a:lnTo>
                    <a:pt x="3121685" y="466318"/>
                  </a:lnTo>
                  <a:lnTo>
                    <a:pt x="3159607" y="433057"/>
                  </a:lnTo>
                  <a:lnTo>
                    <a:pt x="3190316" y="393039"/>
                  </a:lnTo>
                  <a:lnTo>
                    <a:pt x="3212630" y="347789"/>
                  </a:lnTo>
                  <a:lnTo>
                    <a:pt x="3222650" y="314312"/>
                  </a:lnTo>
                  <a:lnTo>
                    <a:pt x="5943600" y="314312"/>
                  </a:lnTo>
                  <a:lnTo>
                    <a:pt x="5943600" y="256705"/>
                  </a:lnTo>
                  <a:close/>
                </a:path>
              </a:pathLst>
            </a:custGeom>
            <a:solidFill>
              <a:srgbClr val="D3C5B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064125" y="3934459"/>
            <a:ext cx="3838575" cy="1189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r" marR="974090">
              <a:lnSpc>
                <a:spcPct val="100000"/>
              </a:lnSpc>
              <a:spcBef>
                <a:spcPts val="120"/>
              </a:spcBef>
            </a:pPr>
            <a:r>
              <a:rPr dirty="0" sz="1600" spc="-50" b="1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650" spc="-20" b="1">
                <a:solidFill>
                  <a:srgbClr val="736458"/>
                </a:solidFill>
                <a:latin typeface="Georgia"/>
                <a:cs typeface="Georgia"/>
              </a:rPr>
              <a:t>Strategic</a:t>
            </a:r>
            <a:r>
              <a:rPr dirty="0" sz="1650" spc="-50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458"/>
                </a:solidFill>
                <a:latin typeface="Georgia"/>
                <a:cs typeface="Georgia"/>
              </a:rPr>
              <a:t>Impact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Guide</a:t>
            </a:r>
            <a:r>
              <a:rPr dirty="0" sz="135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business</a:t>
            </a:r>
            <a:r>
              <a:rPr dirty="0" sz="135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decisions</a:t>
            </a:r>
            <a:r>
              <a:rPr dirty="0" sz="135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and</a:t>
            </a:r>
            <a:r>
              <a:rPr dirty="0" sz="135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optimize</a:t>
            </a:r>
            <a:r>
              <a:rPr dirty="0" sz="135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operations.</a:t>
            </a:r>
            <a:endParaRPr sz="1350">
              <a:latin typeface="Georgia"/>
              <a:cs typeface="Georgia"/>
            </a:endParaRPr>
          </a:p>
        </p:txBody>
      </p:sp>
      <p:pic>
        <p:nvPicPr>
          <p:cNvPr id="22" name="object 22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317990" cy="6437630"/>
          </a:xfrm>
          <a:custGeom>
            <a:avLst/>
            <a:gdLst/>
            <a:ahLst/>
            <a:cxnLst/>
            <a:rect l="l" t="t" r="r" b="b"/>
            <a:pathLst>
              <a:path w="9317990" h="6437630">
                <a:moveTo>
                  <a:pt x="9317742" y="0"/>
                </a:moveTo>
                <a:lnTo>
                  <a:pt x="0" y="0"/>
                </a:lnTo>
                <a:lnTo>
                  <a:pt x="0" y="6437007"/>
                </a:lnTo>
                <a:lnTo>
                  <a:pt x="9317742" y="6437007"/>
                </a:lnTo>
                <a:lnTo>
                  <a:pt x="9317742" y="0"/>
                </a:lnTo>
                <a:close/>
              </a:path>
            </a:pathLst>
          </a:custGeom>
          <a:solidFill>
            <a:srgbClr val="F9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-75"/>
              <a:t>Dataset</a:t>
            </a:r>
            <a:r>
              <a:rPr dirty="0" sz="2750" spc="-65"/>
              <a:t> Summary</a:t>
            </a:r>
            <a:endParaRPr sz="2750"/>
          </a:p>
        </p:txBody>
      </p:sp>
      <p:sp>
        <p:nvSpPr>
          <p:cNvPr id="4" name="object 4"/>
          <p:cNvSpPr/>
          <p:nvPr/>
        </p:nvSpPr>
        <p:spPr>
          <a:xfrm>
            <a:off x="520240" y="1615075"/>
            <a:ext cx="46990" cy="46990"/>
          </a:xfrm>
          <a:custGeom>
            <a:avLst/>
            <a:gdLst/>
            <a:ahLst/>
            <a:cxnLst/>
            <a:rect l="l" t="t" r="r" b="b"/>
            <a:pathLst>
              <a:path w="46990" h="46989">
                <a:moveTo>
                  <a:pt x="26383" y="0"/>
                </a:moveTo>
                <a:lnTo>
                  <a:pt x="20205" y="0"/>
                </a:lnTo>
                <a:lnTo>
                  <a:pt x="17232" y="590"/>
                </a:lnTo>
                <a:lnTo>
                  <a:pt x="0" y="20198"/>
                </a:lnTo>
                <a:lnTo>
                  <a:pt x="0" y="26379"/>
                </a:lnTo>
                <a:lnTo>
                  <a:pt x="20205" y="46588"/>
                </a:lnTo>
                <a:lnTo>
                  <a:pt x="26383" y="46588"/>
                </a:lnTo>
                <a:lnTo>
                  <a:pt x="46588" y="26379"/>
                </a:lnTo>
                <a:lnTo>
                  <a:pt x="46588" y="23294"/>
                </a:lnTo>
                <a:lnTo>
                  <a:pt x="46588" y="20198"/>
                </a:lnTo>
                <a:lnTo>
                  <a:pt x="29356" y="590"/>
                </a:lnTo>
                <a:lnTo>
                  <a:pt x="26383" y="0"/>
                </a:lnTo>
                <a:close/>
              </a:path>
            </a:pathLst>
          </a:custGeom>
          <a:solidFill>
            <a:srgbClr val="7364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0240" y="1886843"/>
            <a:ext cx="46990" cy="46990"/>
          </a:xfrm>
          <a:custGeom>
            <a:avLst/>
            <a:gdLst/>
            <a:ahLst/>
            <a:cxnLst/>
            <a:rect l="l" t="t" r="r" b="b"/>
            <a:pathLst>
              <a:path w="46990" h="46989">
                <a:moveTo>
                  <a:pt x="26383" y="0"/>
                </a:moveTo>
                <a:lnTo>
                  <a:pt x="20205" y="0"/>
                </a:lnTo>
                <a:lnTo>
                  <a:pt x="17232" y="590"/>
                </a:lnTo>
                <a:lnTo>
                  <a:pt x="0" y="20198"/>
                </a:lnTo>
                <a:lnTo>
                  <a:pt x="0" y="26379"/>
                </a:lnTo>
                <a:lnTo>
                  <a:pt x="20205" y="46588"/>
                </a:lnTo>
                <a:lnTo>
                  <a:pt x="26383" y="46588"/>
                </a:lnTo>
                <a:lnTo>
                  <a:pt x="46588" y="26379"/>
                </a:lnTo>
                <a:lnTo>
                  <a:pt x="46588" y="23294"/>
                </a:lnTo>
                <a:lnTo>
                  <a:pt x="46588" y="20198"/>
                </a:lnTo>
                <a:lnTo>
                  <a:pt x="29356" y="590"/>
                </a:lnTo>
                <a:lnTo>
                  <a:pt x="26383" y="0"/>
                </a:lnTo>
                <a:close/>
              </a:path>
            </a:pathLst>
          </a:custGeom>
          <a:solidFill>
            <a:srgbClr val="7364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0240" y="2608968"/>
            <a:ext cx="46990" cy="46990"/>
          </a:xfrm>
          <a:custGeom>
            <a:avLst/>
            <a:gdLst/>
            <a:ahLst/>
            <a:cxnLst/>
            <a:rect l="l" t="t" r="r" b="b"/>
            <a:pathLst>
              <a:path w="46990" h="46989">
                <a:moveTo>
                  <a:pt x="26383" y="0"/>
                </a:moveTo>
                <a:lnTo>
                  <a:pt x="20205" y="0"/>
                </a:lnTo>
                <a:lnTo>
                  <a:pt x="17232" y="590"/>
                </a:lnTo>
                <a:lnTo>
                  <a:pt x="0" y="20198"/>
                </a:lnTo>
                <a:lnTo>
                  <a:pt x="0" y="26379"/>
                </a:lnTo>
                <a:lnTo>
                  <a:pt x="20205" y="46588"/>
                </a:lnTo>
                <a:lnTo>
                  <a:pt x="26383" y="46588"/>
                </a:lnTo>
                <a:lnTo>
                  <a:pt x="46588" y="26379"/>
                </a:lnTo>
                <a:lnTo>
                  <a:pt x="46588" y="23294"/>
                </a:lnTo>
                <a:lnTo>
                  <a:pt x="46588" y="20198"/>
                </a:lnTo>
                <a:lnTo>
                  <a:pt x="29356" y="590"/>
                </a:lnTo>
                <a:lnTo>
                  <a:pt x="26383" y="0"/>
                </a:lnTo>
                <a:close/>
              </a:path>
            </a:pathLst>
          </a:custGeom>
          <a:solidFill>
            <a:srgbClr val="7364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0240" y="3105914"/>
            <a:ext cx="46990" cy="46990"/>
          </a:xfrm>
          <a:custGeom>
            <a:avLst/>
            <a:gdLst/>
            <a:ahLst/>
            <a:cxnLst/>
            <a:rect l="l" t="t" r="r" b="b"/>
            <a:pathLst>
              <a:path w="46990" h="46989">
                <a:moveTo>
                  <a:pt x="26383" y="0"/>
                </a:moveTo>
                <a:lnTo>
                  <a:pt x="20205" y="0"/>
                </a:lnTo>
                <a:lnTo>
                  <a:pt x="17232" y="590"/>
                </a:lnTo>
                <a:lnTo>
                  <a:pt x="0" y="20198"/>
                </a:lnTo>
                <a:lnTo>
                  <a:pt x="0" y="26379"/>
                </a:lnTo>
                <a:lnTo>
                  <a:pt x="20205" y="46588"/>
                </a:lnTo>
                <a:lnTo>
                  <a:pt x="26383" y="46588"/>
                </a:lnTo>
                <a:lnTo>
                  <a:pt x="46588" y="26379"/>
                </a:lnTo>
                <a:lnTo>
                  <a:pt x="46588" y="23294"/>
                </a:lnTo>
                <a:lnTo>
                  <a:pt x="46588" y="20198"/>
                </a:lnTo>
                <a:lnTo>
                  <a:pt x="29356" y="590"/>
                </a:lnTo>
                <a:lnTo>
                  <a:pt x="26383" y="0"/>
                </a:lnTo>
                <a:close/>
              </a:path>
            </a:pathLst>
          </a:custGeom>
          <a:solidFill>
            <a:srgbClr val="7364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0240" y="3602860"/>
            <a:ext cx="46990" cy="46990"/>
          </a:xfrm>
          <a:custGeom>
            <a:avLst/>
            <a:gdLst/>
            <a:ahLst/>
            <a:cxnLst/>
            <a:rect l="l" t="t" r="r" b="b"/>
            <a:pathLst>
              <a:path w="46990" h="46989">
                <a:moveTo>
                  <a:pt x="26383" y="0"/>
                </a:moveTo>
                <a:lnTo>
                  <a:pt x="20205" y="0"/>
                </a:lnTo>
                <a:lnTo>
                  <a:pt x="17232" y="590"/>
                </a:lnTo>
                <a:lnTo>
                  <a:pt x="0" y="20198"/>
                </a:lnTo>
                <a:lnTo>
                  <a:pt x="0" y="26379"/>
                </a:lnTo>
                <a:lnTo>
                  <a:pt x="20205" y="46588"/>
                </a:lnTo>
                <a:lnTo>
                  <a:pt x="26383" y="46588"/>
                </a:lnTo>
                <a:lnTo>
                  <a:pt x="46588" y="26379"/>
                </a:lnTo>
                <a:lnTo>
                  <a:pt x="46588" y="23294"/>
                </a:lnTo>
                <a:lnTo>
                  <a:pt x="46588" y="20198"/>
                </a:lnTo>
                <a:lnTo>
                  <a:pt x="29356" y="590"/>
                </a:lnTo>
                <a:lnTo>
                  <a:pt x="26383" y="0"/>
                </a:lnTo>
                <a:close/>
              </a:path>
            </a:pathLst>
          </a:custGeom>
          <a:solidFill>
            <a:srgbClr val="7364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76481" y="1140370"/>
            <a:ext cx="3850004" cy="279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b="1">
                <a:solidFill>
                  <a:srgbClr val="484137"/>
                </a:solidFill>
                <a:latin typeface="Georgia"/>
                <a:cs typeface="Georgia"/>
              </a:rPr>
              <a:t>Data</a:t>
            </a:r>
            <a:r>
              <a:rPr dirty="0" sz="1350" spc="-70" b="1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dirty="0" sz="1350" spc="-10" b="1">
                <a:solidFill>
                  <a:srgbClr val="484137"/>
                </a:solidFill>
                <a:latin typeface="Georgia"/>
                <a:cs typeface="Georgia"/>
              </a:rPr>
              <a:t>Points</a:t>
            </a:r>
            <a:endParaRPr sz="1350">
              <a:latin typeface="Georgia"/>
              <a:cs typeface="Georgia"/>
            </a:endParaRPr>
          </a:p>
          <a:p>
            <a:pPr marL="235585">
              <a:lnSpc>
                <a:spcPct val="100000"/>
              </a:lnSpc>
              <a:spcBef>
                <a:spcPts val="1380"/>
              </a:spcBef>
            </a:pP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3,900</a:t>
            </a:r>
            <a:r>
              <a:rPr dirty="0" sz="110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 spc="-20">
                <a:solidFill>
                  <a:srgbClr val="736458"/>
                </a:solidFill>
                <a:latin typeface="Georgia"/>
                <a:cs typeface="Georgia"/>
              </a:rPr>
              <a:t>Rows</a:t>
            </a:r>
            <a:endParaRPr sz="1100">
              <a:latin typeface="Georgia"/>
              <a:cs typeface="Georgia"/>
            </a:endParaRPr>
          </a:p>
          <a:p>
            <a:pPr marL="235585">
              <a:lnSpc>
                <a:spcPct val="100000"/>
              </a:lnSpc>
              <a:spcBef>
                <a:spcPts val="819"/>
              </a:spcBef>
            </a:pP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18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 Columns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350" b="1">
                <a:solidFill>
                  <a:srgbClr val="484137"/>
                </a:solidFill>
                <a:latin typeface="Georgia"/>
                <a:cs typeface="Georgia"/>
              </a:rPr>
              <a:t>Key</a:t>
            </a:r>
            <a:r>
              <a:rPr dirty="0" sz="1350" spc="-80" b="1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dirty="0" sz="1350" spc="-10" b="1">
                <a:solidFill>
                  <a:srgbClr val="484137"/>
                </a:solidFill>
                <a:latin typeface="Georgia"/>
                <a:cs typeface="Georgia"/>
              </a:rPr>
              <a:t>Features</a:t>
            </a:r>
            <a:endParaRPr sz="1350">
              <a:latin typeface="Georgia"/>
              <a:cs typeface="Georgia"/>
            </a:endParaRPr>
          </a:p>
          <a:p>
            <a:pPr marL="235585" marR="600710">
              <a:lnSpc>
                <a:spcPct val="134300"/>
              </a:lnSpc>
              <a:spcBef>
                <a:spcPts val="930"/>
              </a:spcBef>
            </a:pP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Customer</a:t>
            </a:r>
            <a:r>
              <a:rPr dirty="0" sz="110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demographics</a:t>
            </a:r>
            <a:r>
              <a:rPr dirty="0" sz="110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(Age,</a:t>
            </a:r>
            <a:r>
              <a:rPr dirty="0" sz="110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Gender,</a:t>
            </a:r>
            <a:r>
              <a:rPr dirty="0" sz="110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Location, Subscription)</a:t>
            </a:r>
            <a:endParaRPr sz="1100">
              <a:latin typeface="Georgia"/>
              <a:cs typeface="Georgia"/>
            </a:endParaRPr>
          </a:p>
          <a:p>
            <a:pPr marL="235585" marR="158115">
              <a:lnSpc>
                <a:spcPct val="134300"/>
              </a:lnSpc>
              <a:spcBef>
                <a:spcPts val="365"/>
              </a:spcBef>
            </a:pP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Purchase</a:t>
            </a:r>
            <a:r>
              <a:rPr dirty="0" sz="1100" spc="-2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details</a:t>
            </a:r>
            <a:r>
              <a:rPr dirty="0" sz="110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(Item,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Category,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Amount,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Season,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 Size, Color)</a:t>
            </a:r>
            <a:endParaRPr sz="1100">
              <a:latin typeface="Georgia"/>
              <a:cs typeface="Georgia"/>
            </a:endParaRPr>
          </a:p>
          <a:p>
            <a:pPr marL="235585" marR="5080">
              <a:lnSpc>
                <a:spcPct val="134300"/>
              </a:lnSpc>
              <a:spcBef>
                <a:spcPts val="370"/>
              </a:spcBef>
            </a:pP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Shopping</a:t>
            </a:r>
            <a:r>
              <a:rPr dirty="0" sz="110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behavior</a:t>
            </a:r>
            <a:r>
              <a:rPr dirty="0" sz="110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(Discount,</a:t>
            </a:r>
            <a:r>
              <a:rPr dirty="0" sz="110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Promo,</a:t>
            </a:r>
            <a:r>
              <a:rPr dirty="0" sz="110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Previous</a:t>
            </a:r>
            <a:r>
              <a:rPr dirty="0" sz="110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Purchases,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Frequency,</a:t>
            </a:r>
            <a:r>
              <a:rPr dirty="0" sz="1100" spc="-5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Review,</a:t>
            </a:r>
            <a:r>
              <a:rPr dirty="0" sz="1100" spc="-5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Shipping)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7461" y="1188012"/>
            <a:ext cx="3998864" cy="399886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24398" y="5310059"/>
            <a:ext cx="2329180" cy="577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5" b="1">
                <a:solidFill>
                  <a:srgbClr val="484137"/>
                </a:solidFill>
                <a:latin typeface="Georgia"/>
                <a:cs typeface="Georgia"/>
              </a:rPr>
              <a:t>Missing</a:t>
            </a:r>
            <a:r>
              <a:rPr dirty="0" sz="1350" spc="-20" b="1">
                <a:solidFill>
                  <a:srgbClr val="484137"/>
                </a:solidFill>
                <a:latin typeface="Georgia"/>
                <a:cs typeface="Georgia"/>
              </a:rPr>
              <a:t> Data</a:t>
            </a:r>
            <a:endParaRPr sz="1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37</a:t>
            </a:r>
            <a:r>
              <a:rPr dirty="0" sz="110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values</a:t>
            </a:r>
            <a:r>
              <a:rPr dirty="0" sz="1100" spc="-2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in</a:t>
            </a:r>
            <a:r>
              <a:rPr dirty="0" sz="110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"Review</a:t>
            </a:r>
            <a:r>
              <a:rPr dirty="0" sz="110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458"/>
                </a:solidFill>
                <a:latin typeface="Georgia"/>
                <a:cs typeface="Georgia"/>
              </a:rPr>
              <a:t>Rating"</a:t>
            </a:r>
            <a:r>
              <a:rPr dirty="0" sz="110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458"/>
                </a:solidFill>
                <a:latin typeface="Georgia"/>
                <a:cs typeface="Georgia"/>
              </a:rPr>
              <a:t>column.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2" name="object 12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9820" y="6021125"/>
            <a:ext cx="1430273" cy="341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806450"/>
            <a:ext cx="75139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65"/>
              <a:t>Exploratory</a:t>
            </a:r>
            <a:r>
              <a:rPr dirty="0" spc="-140"/>
              <a:t> </a:t>
            </a:r>
            <a:r>
              <a:rPr dirty="0" spc="-50"/>
              <a:t>Data</a:t>
            </a:r>
            <a:r>
              <a:rPr dirty="0" spc="-135"/>
              <a:t> </a:t>
            </a:r>
            <a:r>
              <a:rPr dirty="0" spc="-55"/>
              <a:t>Analysis</a:t>
            </a:r>
            <a:r>
              <a:rPr dirty="0" spc="-135"/>
              <a:t> </a:t>
            </a:r>
            <a:r>
              <a:rPr dirty="0" spc="-55"/>
              <a:t>(Python)</a:t>
            </a:r>
          </a:p>
        </p:txBody>
      </p:sp>
      <p:sp>
        <p:nvSpPr>
          <p:cNvPr id="3" name="object 3"/>
          <p:cNvSpPr/>
          <p:nvPr/>
        </p:nvSpPr>
        <p:spPr>
          <a:xfrm>
            <a:off x="600074" y="2009774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199" y="19049"/>
                </a:moveTo>
                <a:lnTo>
                  <a:pt x="0" y="19049"/>
                </a:lnTo>
                <a:lnTo>
                  <a:pt x="0" y="0"/>
                </a:lnTo>
                <a:lnTo>
                  <a:pt x="5029199" y="0"/>
                </a:lnTo>
                <a:lnTo>
                  <a:pt x="5029199" y="19049"/>
                </a:lnTo>
                <a:close/>
              </a:path>
            </a:pathLst>
          </a:custGeom>
          <a:solidFill>
            <a:srgbClr val="D3C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773291" y="1701800"/>
            <a:ext cx="226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736558"/>
                </a:solidFill>
                <a:latin typeface="Georgia"/>
                <a:cs typeface="Georgia"/>
              </a:rPr>
              <a:t>02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00724" y="2009774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199" y="19049"/>
                </a:moveTo>
                <a:lnTo>
                  <a:pt x="0" y="19049"/>
                </a:lnTo>
                <a:lnTo>
                  <a:pt x="0" y="0"/>
                </a:lnTo>
                <a:lnTo>
                  <a:pt x="5029199" y="0"/>
                </a:lnTo>
                <a:lnTo>
                  <a:pt x="5029199" y="19049"/>
                </a:lnTo>
                <a:close/>
              </a:path>
            </a:pathLst>
          </a:custGeom>
          <a:solidFill>
            <a:srgbClr val="D3C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788024" y="2097087"/>
            <a:ext cx="404241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736558"/>
                </a:solidFill>
                <a:latin typeface="Georgia"/>
                <a:cs typeface="Georgia"/>
              </a:rPr>
              <a:t>Missing</a:t>
            </a:r>
            <a:r>
              <a:rPr dirty="0" sz="1650" spc="-7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b="1">
                <a:solidFill>
                  <a:srgbClr val="736558"/>
                </a:solidFill>
                <a:latin typeface="Georgia"/>
                <a:cs typeface="Georgia"/>
              </a:rPr>
              <a:t>Data</a:t>
            </a:r>
            <a:r>
              <a:rPr dirty="0" sz="1650" spc="-7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558"/>
                </a:solidFill>
                <a:latin typeface="Georgia"/>
                <a:cs typeface="Georgia"/>
              </a:rPr>
              <a:t>Handling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Imputed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"Review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Rating"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using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median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per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category.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0074" y="3343274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199" y="19049"/>
                </a:moveTo>
                <a:lnTo>
                  <a:pt x="0" y="19049"/>
                </a:lnTo>
                <a:lnTo>
                  <a:pt x="0" y="0"/>
                </a:lnTo>
                <a:lnTo>
                  <a:pt x="5029199" y="0"/>
                </a:lnTo>
                <a:lnTo>
                  <a:pt x="5029199" y="19049"/>
                </a:lnTo>
                <a:close/>
              </a:path>
            </a:pathLst>
          </a:custGeom>
          <a:solidFill>
            <a:srgbClr val="D3C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772695" y="3044824"/>
            <a:ext cx="22796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736558"/>
                </a:solidFill>
                <a:latin typeface="Georgia"/>
                <a:cs typeface="Georgia"/>
              </a:rPr>
              <a:t>04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00724" y="3343274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199" y="19049"/>
                </a:moveTo>
                <a:lnTo>
                  <a:pt x="0" y="19049"/>
                </a:lnTo>
                <a:lnTo>
                  <a:pt x="0" y="0"/>
                </a:lnTo>
                <a:lnTo>
                  <a:pt x="5029199" y="0"/>
                </a:lnTo>
                <a:lnTo>
                  <a:pt x="5029199" y="19049"/>
                </a:lnTo>
                <a:close/>
              </a:path>
            </a:pathLst>
          </a:custGeom>
          <a:solidFill>
            <a:srgbClr val="D3C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788024" y="3430587"/>
            <a:ext cx="388683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736558"/>
                </a:solidFill>
                <a:latin typeface="Georgia"/>
                <a:cs typeface="Georgia"/>
              </a:rPr>
              <a:t>Feature</a:t>
            </a:r>
            <a:r>
              <a:rPr dirty="0" sz="1650" spc="-6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558"/>
                </a:solidFill>
                <a:latin typeface="Georgia"/>
                <a:cs typeface="Georgia"/>
              </a:rPr>
              <a:t>Engineering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Created age_group and 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purchase_frequency_days.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0074" y="4686299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199" y="19049"/>
                </a:moveTo>
                <a:lnTo>
                  <a:pt x="0" y="19049"/>
                </a:lnTo>
                <a:lnTo>
                  <a:pt x="0" y="0"/>
                </a:lnTo>
                <a:lnTo>
                  <a:pt x="5029199" y="0"/>
                </a:lnTo>
                <a:lnTo>
                  <a:pt x="5029199" y="19049"/>
                </a:lnTo>
                <a:close/>
              </a:path>
            </a:pathLst>
          </a:custGeom>
          <a:solidFill>
            <a:srgbClr val="D3C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01</a:t>
            </a:r>
          </a:p>
          <a:p>
            <a:pPr marL="26670">
              <a:lnSpc>
                <a:spcPct val="100000"/>
              </a:lnSpc>
              <a:spcBef>
                <a:spcPts val="1530"/>
              </a:spcBef>
            </a:pPr>
            <a:r>
              <a:rPr dirty="0" sz="1650" b="1">
                <a:latin typeface="Georgia"/>
                <a:cs typeface="Georgia"/>
              </a:rPr>
              <a:t>Data</a:t>
            </a:r>
            <a:r>
              <a:rPr dirty="0" sz="1650" spc="-60" b="1">
                <a:latin typeface="Georgia"/>
                <a:cs typeface="Georgia"/>
              </a:rPr>
              <a:t> </a:t>
            </a:r>
            <a:r>
              <a:rPr dirty="0" sz="1650" spc="-20" b="1">
                <a:latin typeface="Georgia"/>
                <a:cs typeface="Georgia"/>
              </a:rPr>
              <a:t>Loading</a:t>
            </a:r>
            <a:r>
              <a:rPr dirty="0" sz="1650" spc="-60" b="1">
                <a:latin typeface="Georgia"/>
                <a:cs typeface="Georgia"/>
              </a:rPr>
              <a:t> </a:t>
            </a:r>
            <a:r>
              <a:rPr dirty="0" sz="1650" b="1">
                <a:latin typeface="Georgia"/>
                <a:cs typeface="Georgia"/>
              </a:rPr>
              <a:t>&amp;</a:t>
            </a:r>
            <a:r>
              <a:rPr dirty="0" sz="1650" spc="-55" b="1">
                <a:latin typeface="Georgia"/>
                <a:cs typeface="Georgia"/>
              </a:rPr>
              <a:t> </a:t>
            </a:r>
            <a:r>
              <a:rPr dirty="0" sz="1650" spc="-10" b="1">
                <a:latin typeface="Georgia"/>
                <a:cs typeface="Georgia"/>
              </a:rPr>
              <a:t>Exploration</a:t>
            </a:r>
            <a:endParaRPr sz="1650">
              <a:latin typeface="Georgia"/>
              <a:cs typeface="Georgia"/>
            </a:endParaRPr>
          </a:p>
          <a:p>
            <a:pPr marL="26670">
              <a:lnSpc>
                <a:spcPct val="100000"/>
              </a:lnSpc>
              <a:spcBef>
                <a:spcPts val="1095"/>
              </a:spcBef>
            </a:pPr>
            <a:r>
              <a:rPr dirty="0"/>
              <a:t>Imported</a:t>
            </a:r>
            <a:r>
              <a:rPr dirty="0" spc="-5"/>
              <a:t> </a:t>
            </a:r>
            <a:r>
              <a:rPr dirty="0"/>
              <a:t>with</a:t>
            </a:r>
            <a:r>
              <a:rPr dirty="0" spc="-5"/>
              <a:t> </a:t>
            </a:r>
            <a:r>
              <a:rPr dirty="0"/>
              <a:t>pandas,</a:t>
            </a:r>
            <a:r>
              <a:rPr dirty="0" spc="-5"/>
              <a:t> </a:t>
            </a:r>
            <a:r>
              <a:rPr dirty="0"/>
              <a:t>checked</a:t>
            </a:r>
            <a:r>
              <a:rPr dirty="0" spc="-5"/>
              <a:t> </a:t>
            </a:r>
            <a:r>
              <a:rPr dirty="0"/>
              <a:t>structure and</a:t>
            </a:r>
            <a:r>
              <a:rPr dirty="0" spc="-5"/>
              <a:t> </a:t>
            </a:r>
            <a:r>
              <a:rPr dirty="0"/>
              <a:t>summary</a:t>
            </a:r>
            <a:r>
              <a:rPr dirty="0" spc="-5"/>
              <a:t> </a:t>
            </a:r>
            <a:r>
              <a:rPr dirty="0" spc="-10"/>
              <a:t>statistics.</a:t>
            </a:r>
          </a:p>
          <a:p>
            <a:pPr>
              <a:lnSpc>
                <a:spcPct val="100000"/>
              </a:lnSpc>
              <a:spcBef>
                <a:spcPts val="119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25"/>
              <a:t>03</a:t>
            </a:r>
          </a:p>
          <a:p>
            <a:pPr marL="26670">
              <a:lnSpc>
                <a:spcPct val="100000"/>
              </a:lnSpc>
              <a:spcBef>
                <a:spcPts val="1455"/>
              </a:spcBef>
            </a:pPr>
            <a:r>
              <a:rPr dirty="0" sz="1650" spc="-10" b="1">
                <a:latin typeface="Georgia"/>
                <a:cs typeface="Georgia"/>
              </a:rPr>
              <a:t>Column</a:t>
            </a:r>
            <a:r>
              <a:rPr dirty="0" sz="1650" spc="-75" b="1">
                <a:latin typeface="Georgia"/>
                <a:cs typeface="Georgia"/>
              </a:rPr>
              <a:t> </a:t>
            </a:r>
            <a:r>
              <a:rPr dirty="0" sz="1650" spc="-10" b="1">
                <a:latin typeface="Georgia"/>
                <a:cs typeface="Georgia"/>
              </a:rPr>
              <a:t>Standardization</a:t>
            </a:r>
            <a:endParaRPr sz="1650">
              <a:latin typeface="Georgia"/>
              <a:cs typeface="Georgia"/>
            </a:endParaRPr>
          </a:p>
          <a:p>
            <a:pPr marL="26670">
              <a:lnSpc>
                <a:spcPct val="100000"/>
              </a:lnSpc>
              <a:spcBef>
                <a:spcPts val="1170"/>
              </a:spcBef>
            </a:pPr>
            <a:r>
              <a:rPr dirty="0"/>
              <a:t>Renamed to snake_case for </a:t>
            </a:r>
            <a:r>
              <a:rPr dirty="0" spc="-10"/>
              <a:t>readability.</a:t>
            </a:r>
          </a:p>
          <a:p>
            <a:pPr>
              <a:lnSpc>
                <a:spcPct val="100000"/>
              </a:lnSpc>
              <a:spcBef>
                <a:spcPts val="1120"/>
              </a:spcBef>
            </a:pPr>
          </a:p>
          <a:p>
            <a:pPr marL="14604">
              <a:lnSpc>
                <a:spcPct val="100000"/>
              </a:lnSpc>
            </a:pPr>
            <a:r>
              <a:rPr dirty="0" spc="-25"/>
              <a:t>05</a:t>
            </a:r>
          </a:p>
          <a:p>
            <a:pPr marL="26670">
              <a:lnSpc>
                <a:spcPct val="100000"/>
              </a:lnSpc>
              <a:spcBef>
                <a:spcPts val="1530"/>
              </a:spcBef>
            </a:pPr>
            <a:r>
              <a:rPr dirty="0" sz="1650" b="1">
                <a:latin typeface="Georgia"/>
                <a:cs typeface="Georgia"/>
              </a:rPr>
              <a:t>Data</a:t>
            </a:r>
            <a:r>
              <a:rPr dirty="0" sz="1650" spc="-80" b="1">
                <a:latin typeface="Georgia"/>
                <a:cs typeface="Georgia"/>
              </a:rPr>
              <a:t> </a:t>
            </a:r>
            <a:r>
              <a:rPr dirty="0" sz="1650" spc="-10" b="1">
                <a:latin typeface="Georgia"/>
                <a:cs typeface="Georgia"/>
              </a:rPr>
              <a:t>Consistency</a:t>
            </a:r>
            <a:endParaRPr sz="1650">
              <a:latin typeface="Georgia"/>
              <a:cs typeface="Georgia"/>
            </a:endParaRPr>
          </a:p>
          <a:p>
            <a:pPr marL="26670">
              <a:lnSpc>
                <a:spcPct val="100000"/>
              </a:lnSpc>
              <a:spcBef>
                <a:spcPts val="1170"/>
              </a:spcBef>
            </a:pPr>
            <a:r>
              <a:rPr dirty="0"/>
              <a:t>Dropped</a:t>
            </a:r>
            <a:r>
              <a:rPr dirty="0" spc="-35"/>
              <a:t> </a:t>
            </a:r>
            <a:r>
              <a:rPr dirty="0"/>
              <a:t>redundant</a:t>
            </a:r>
            <a:r>
              <a:rPr dirty="0" spc="-25"/>
              <a:t> </a:t>
            </a:r>
            <a:r>
              <a:rPr dirty="0" spc="-10"/>
              <a:t>"promo_code_used".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72695" y="4378325"/>
            <a:ext cx="22796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736558"/>
                </a:solidFill>
                <a:latin typeface="Georgia"/>
                <a:cs typeface="Georgia"/>
              </a:rPr>
              <a:t>06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00724" y="4686299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199" y="19049"/>
                </a:moveTo>
                <a:lnTo>
                  <a:pt x="0" y="19049"/>
                </a:lnTo>
                <a:lnTo>
                  <a:pt x="0" y="0"/>
                </a:lnTo>
                <a:lnTo>
                  <a:pt x="5029199" y="0"/>
                </a:lnTo>
                <a:lnTo>
                  <a:pt x="5029199" y="19049"/>
                </a:lnTo>
                <a:close/>
              </a:path>
            </a:pathLst>
          </a:custGeom>
          <a:solidFill>
            <a:srgbClr val="D3C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788024" y="4773612"/>
            <a:ext cx="4034154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736558"/>
                </a:solidFill>
                <a:latin typeface="Georgia"/>
                <a:cs typeface="Georgia"/>
              </a:rPr>
              <a:t>Database</a:t>
            </a:r>
            <a:r>
              <a:rPr dirty="0" sz="1650" spc="-4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558"/>
                </a:solidFill>
                <a:latin typeface="Georgia"/>
                <a:cs typeface="Georgia"/>
              </a:rPr>
              <a:t>Integration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Loaded cleaned data to PostgreSQL for SQL 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analysis.</a:t>
            </a:r>
            <a:endParaRPr sz="1350">
              <a:latin typeface="Georgia"/>
              <a:cs typeface="Georgia"/>
            </a:endParaRPr>
          </a:p>
        </p:txBody>
      </p:sp>
      <p:pic>
        <p:nvPicPr>
          <p:cNvPr id="16" name="object 1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9F6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5" name="object 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42646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50"/>
              <a:t>Data</a:t>
            </a:r>
            <a:r>
              <a:rPr dirty="0" spc="-145"/>
              <a:t> </a:t>
            </a:r>
            <a:r>
              <a:rPr dirty="0" spc="-60"/>
              <a:t>Analysis</a:t>
            </a:r>
            <a:r>
              <a:rPr dirty="0" spc="-140"/>
              <a:t> </a:t>
            </a:r>
            <a:r>
              <a:rPr dirty="0" spc="-40"/>
              <a:t>(SQL)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00075" y="1304924"/>
            <a:ext cx="5943600" cy="1028700"/>
            <a:chOff x="600075" y="1304924"/>
            <a:chExt cx="5943600" cy="1028700"/>
          </a:xfrm>
        </p:grpSpPr>
        <p:sp>
          <p:nvSpPr>
            <p:cNvPr id="8" name="object 8"/>
            <p:cNvSpPr/>
            <p:nvPr/>
          </p:nvSpPr>
          <p:spPr>
            <a:xfrm>
              <a:off x="609600" y="1314449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5915926" y="0"/>
                  </a:moveTo>
                  <a:lnTo>
                    <a:pt x="8616" y="0"/>
                  </a:lnTo>
                  <a:lnTo>
                    <a:pt x="5814" y="1155"/>
                  </a:lnTo>
                  <a:lnTo>
                    <a:pt x="1160" y="5803"/>
                  </a:lnTo>
                  <a:lnTo>
                    <a:pt x="0" y="8623"/>
                  </a:lnTo>
                  <a:lnTo>
                    <a:pt x="0" y="997750"/>
                  </a:lnTo>
                  <a:lnTo>
                    <a:pt x="0" y="1001026"/>
                  </a:lnTo>
                  <a:lnTo>
                    <a:pt x="1160" y="1003833"/>
                  </a:lnTo>
                  <a:lnTo>
                    <a:pt x="5814" y="1008481"/>
                  </a:lnTo>
                  <a:lnTo>
                    <a:pt x="8616" y="1009650"/>
                  </a:lnTo>
                  <a:lnTo>
                    <a:pt x="5915926" y="1009650"/>
                  </a:lnTo>
                  <a:lnTo>
                    <a:pt x="5918733" y="1008481"/>
                  </a:lnTo>
                  <a:lnTo>
                    <a:pt x="5923381" y="1003833"/>
                  </a:lnTo>
                  <a:lnTo>
                    <a:pt x="5924550" y="1001026"/>
                  </a:lnTo>
                  <a:lnTo>
                    <a:pt x="5924550" y="8623"/>
                  </a:lnTo>
                  <a:lnTo>
                    <a:pt x="5923381" y="5803"/>
                  </a:lnTo>
                  <a:lnTo>
                    <a:pt x="5918733" y="1155"/>
                  </a:lnTo>
                  <a:lnTo>
                    <a:pt x="5915926" y="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600" y="1314449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0" y="997750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60" y="5803"/>
                  </a:lnTo>
                  <a:lnTo>
                    <a:pt x="3487" y="3492"/>
                  </a:lnTo>
                  <a:lnTo>
                    <a:pt x="5814" y="1155"/>
                  </a:lnTo>
                  <a:lnTo>
                    <a:pt x="8616" y="0"/>
                  </a:lnTo>
                  <a:lnTo>
                    <a:pt x="11906" y="0"/>
                  </a:lnTo>
                  <a:lnTo>
                    <a:pt x="5912650" y="0"/>
                  </a:lnTo>
                  <a:lnTo>
                    <a:pt x="5915926" y="0"/>
                  </a:lnTo>
                  <a:lnTo>
                    <a:pt x="5918733" y="1155"/>
                  </a:lnTo>
                  <a:lnTo>
                    <a:pt x="5921057" y="3492"/>
                  </a:lnTo>
                  <a:lnTo>
                    <a:pt x="5923381" y="5803"/>
                  </a:lnTo>
                  <a:lnTo>
                    <a:pt x="5924550" y="8623"/>
                  </a:lnTo>
                  <a:lnTo>
                    <a:pt x="5924550" y="11912"/>
                  </a:lnTo>
                  <a:lnTo>
                    <a:pt x="5924550" y="997750"/>
                  </a:lnTo>
                  <a:lnTo>
                    <a:pt x="5924550" y="1001026"/>
                  </a:lnTo>
                  <a:lnTo>
                    <a:pt x="5923381" y="1003833"/>
                  </a:lnTo>
                  <a:lnTo>
                    <a:pt x="5921057" y="1006157"/>
                  </a:lnTo>
                  <a:lnTo>
                    <a:pt x="5918733" y="1008481"/>
                  </a:lnTo>
                  <a:lnTo>
                    <a:pt x="5915926" y="1009650"/>
                  </a:lnTo>
                  <a:lnTo>
                    <a:pt x="5912650" y="1009650"/>
                  </a:lnTo>
                  <a:lnTo>
                    <a:pt x="11906" y="1009650"/>
                  </a:lnTo>
                  <a:lnTo>
                    <a:pt x="8616" y="1009650"/>
                  </a:lnTo>
                  <a:lnTo>
                    <a:pt x="5814" y="1008481"/>
                  </a:lnTo>
                  <a:lnTo>
                    <a:pt x="3487" y="1006157"/>
                  </a:lnTo>
                  <a:lnTo>
                    <a:pt x="1160" y="1003833"/>
                  </a:lnTo>
                  <a:lnTo>
                    <a:pt x="0" y="1001026"/>
                  </a:lnTo>
                  <a:lnTo>
                    <a:pt x="0" y="997750"/>
                  </a:lnTo>
                  <a:close/>
                </a:path>
              </a:pathLst>
            </a:custGeom>
            <a:ln w="19050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9125" y="1323593"/>
            <a:ext cx="685800" cy="990600"/>
          </a:xfrm>
          <a:prstGeom prst="rect">
            <a:avLst/>
          </a:prstGeom>
          <a:solidFill>
            <a:srgbClr val="EEE8DD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 spc="-50" b="1">
                <a:solidFill>
                  <a:srgbClr val="736458"/>
                </a:solidFill>
                <a:latin typeface="Georgia"/>
                <a:cs typeface="Georgia"/>
              </a:rPr>
              <a:t>1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3676" y="1458912"/>
            <a:ext cx="324040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736458"/>
                </a:solidFill>
                <a:latin typeface="Georgia"/>
                <a:cs typeface="Georgia"/>
              </a:rPr>
              <a:t>Revenue</a:t>
            </a:r>
            <a:r>
              <a:rPr dirty="0" sz="1650" spc="-60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b="1">
                <a:solidFill>
                  <a:srgbClr val="736458"/>
                </a:solidFill>
                <a:latin typeface="Georgia"/>
                <a:cs typeface="Georgia"/>
              </a:rPr>
              <a:t>by</a:t>
            </a:r>
            <a:r>
              <a:rPr dirty="0" sz="1650" spc="-60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458"/>
                </a:solidFill>
                <a:latin typeface="Georgia"/>
                <a:cs typeface="Georgia"/>
              </a:rPr>
              <a:t>Gender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Male</a:t>
            </a:r>
            <a:r>
              <a:rPr dirty="0" sz="1350" spc="-4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customers</a:t>
            </a:r>
            <a:r>
              <a:rPr dirty="0" sz="1350" spc="-4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generated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higher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revenue.</a:t>
            </a:r>
            <a:endParaRPr sz="1350">
              <a:latin typeface="Georgia"/>
              <a:cs typeface="Georg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0075" y="2505074"/>
            <a:ext cx="5943600" cy="1028700"/>
            <a:chOff x="600075" y="2505074"/>
            <a:chExt cx="5943600" cy="1028700"/>
          </a:xfrm>
        </p:grpSpPr>
        <p:sp>
          <p:nvSpPr>
            <p:cNvPr id="13" name="object 13"/>
            <p:cNvSpPr/>
            <p:nvPr/>
          </p:nvSpPr>
          <p:spPr>
            <a:xfrm>
              <a:off x="609600" y="2514599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5915926" y="0"/>
                  </a:moveTo>
                  <a:lnTo>
                    <a:pt x="8616" y="0"/>
                  </a:lnTo>
                  <a:lnTo>
                    <a:pt x="5814" y="1155"/>
                  </a:lnTo>
                  <a:lnTo>
                    <a:pt x="1160" y="5803"/>
                  </a:lnTo>
                  <a:lnTo>
                    <a:pt x="0" y="8623"/>
                  </a:lnTo>
                  <a:lnTo>
                    <a:pt x="0" y="997750"/>
                  </a:lnTo>
                  <a:lnTo>
                    <a:pt x="0" y="1001026"/>
                  </a:lnTo>
                  <a:lnTo>
                    <a:pt x="1160" y="1003833"/>
                  </a:lnTo>
                  <a:lnTo>
                    <a:pt x="5814" y="1008481"/>
                  </a:lnTo>
                  <a:lnTo>
                    <a:pt x="8616" y="1009650"/>
                  </a:lnTo>
                  <a:lnTo>
                    <a:pt x="5915926" y="1009650"/>
                  </a:lnTo>
                  <a:lnTo>
                    <a:pt x="5918733" y="1008481"/>
                  </a:lnTo>
                  <a:lnTo>
                    <a:pt x="5923381" y="1003833"/>
                  </a:lnTo>
                  <a:lnTo>
                    <a:pt x="5924550" y="1001026"/>
                  </a:lnTo>
                  <a:lnTo>
                    <a:pt x="5924550" y="8623"/>
                  </a:lnTo>
                  <a:lnTo>
                    <a:pt x="5923381" y="5803"/>
                  </a:lnTo>
                  <a:lnTo>
                    <a:pt x="5918733" y="1155"/>
                  </a:lnTo>
                  <a:lnTo>
                    <a:pt x="5915926" y="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09600" y="2514599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0" y="997750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60" y="5803"/>
                  </a:lnTo>
                  <a:lnTo>
                    <a:pt x="3487" y="3492"/>
                  </a:lnTo>
                  <a:lnTo>
                    <a:pt x="5814" y="1155"/>
                  </a:lnTo>
                  <a:lnTo>
                    <a:pt x="8616" y="0"/>
                  </a:lnTo>
                  <a:lnTo>
                    <a:pt x="11906" y="0"/>
                  </a:lnTo>
                  <a:lnTo>
                    <a:pt x="5912650" y="0"/>
                  </a:lnTo>
                  <a:lnTo>
                    <a:pt x="5915926" y="0"/>
                  </a:lnTo>
                  <a:lnTo>
                    <a:pt x="5918733" y="1155"/>
                  </a:lnTo>
                  <a:lnTo>
                    <a:pt x="5921057" y="3492"/>
                  </a:lnTo>
                  <a:lnTo>
                    <a:pt x="5923381" y="5803"/>
                  </a:lnTo>
                  <a:lnTo>
                    <a:pt x="5924550" y="8623"/>
                  </a:lnTo>
                  <a:lnTo>
                    <a:pt x="5924550" y="11912"/>
                  </a:lnTo>
                  <a:lnTo>
                    <a:pt x="5924550" y="997750"/>
                  </a:lnTo>
                  <a:lnTo>
                    <a:pt x="5924550" y="1001026"/>
                  </a:lnTo>
                  <a:lnTo>
                    <a:pt x="5923381" y="1003833"/>
                  </a:lnTo>
                  <a:lnTo>
                    <a:pt x="5921057" y="1006157"/>
                  </a:lnTo>
                  <a:lnTo>
                    <a:pt x="5918733" y="1008481"/>
                  </a:lnTo>
                  <a:lnTo>
                    <a:pt x="5915926" y="1009650"/>
                  </a:lnTo>
                  <a:lnTo>
                    <a:pt x="5912650" y="1009650"/>
                  </a:lnTo>
                  <a:lnTo>
                    <a:pt x="11906" y="1009650"/>
                  </a:lnTo>
                  <a:lnTo>
                    <a:pt x="8616" y="1009650"/>
                  </a:lnTo>
                  <a:lnTo>
                    <a:pt x="5814" y="1008481"/>
                  </a:lnTo>
                  <a:lnTo>
                    <a:pt x="3487" y="1006157"/>
                  </a:lnTo>
                  <a:lnTo>
                    <a:pt x="1160" y="1003833"/>
                  </a:lnTo>
                  <a:lnTo>
                    <a:pt x="0" y="1001026"/>
                  </a:lnTo>
                  <a:lnTo>
                    <a:pt x="0" y="997750"/>
                  </a:lnTo>
                  <a:close/>
                </a:path>
              </a:pathLst>
            </a:custGeom>
            <a:ln w="19050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19125" y="2523744"/>
            <a:ext cx="685800" cy="990600"/>
          </a:xfrm>
          <a:prstGeom prst="rect">
            <a:avLst/>
          </a:prstGeom>
          <a:solidFill>
            <a:srgbClr val="EEE8DD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 spc="-50" b="1">
                <a:solidFill>
                  <a:srgbClr val="736458"/>
                </a:solidFill>
                <a:latin typeface="Georgia"/>
                <a:cs typeface="Georgia"/>
              </a:rPr>
              <a:t>2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63675" y="2659062"/>
            <a:ext cx="486092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736458"/>
                </a:solidFill>
                <a:latin typeface="Georgia"/>
                <a:cs typeface="Georgia"/>
              </a:rPr>
              <a:t>High-</a:t>
            </a:r>
            <a:r>
              <a:rPr dirty="0" sz="1650" spc="-20" b="1">
                <a:solidFill>
                  <a:srgbClr val="736458"/>
                </a:solidFill>
                <a:latin typeface="Georgia"/>
                <a:cs typeface="Georgia"/>
              </a:rPr>
              <a:t>Spending</a:t>
            </a:r>
            <a:r>
              <a:rPr dirty="0" sz="1650" spc="-40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spc="-25" b="1">
                <a:solidFill>
                  <a:srgbClr val="736458"/>
                </a:solidFill>
                <a:latin typeface="Georgia"/>
                <a:cs typeface="Georgia"/>
              </a:rPr>
              <a:t>Discount</a:t>
            </a:r>
            <a:r>
              <a:rPr dirty="0" sz="1650" spc="-35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spc="-20" b="1">
                <a:solidFill>
                  <a:srgbClr val="736458"/>
                </a:solidFill>
                <a:latin typeface="Georgia"/>
                <a:cs typeface="Georgia"/>
              </a:rPr>
              <a:t>Users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Identified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customers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using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discounts</a:t>
            </a:r>
            <a:r>
              <a:rPr dirty="0" sz="135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with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above-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average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spend.</a:t>
            </a:r>
            <a:endParaRPr sz="135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0075" y="3705225"/>
            <a:ext cx="5943600" cy="1028700"/>
            <a:chOff x="600075" y="3705225"/>
            <a:chExt cx="5943600" cy="1028700"/>
          </a:xfrm>
        </p:grpSpPr>
        <p:sp>
          <p:nvSpPr>
            <p:cNvPr id="18" name="object 18"/>
            <p:cNvSpPr/>
            <p:nvPr/>
          </p:nvSpPr>
          <p:spPr>
            <a:xfrm>
              <a:off x="609600" y="3714750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5915926" y="0"/>
                  </a:moveTo>
                  <a:lnTo>
                    <a:pt x="8616" y="0"/>
                  </a:lnTo>
                  <a:lnTo>
                    <a:pt x="5814" y="1155"/>
                  </a:lnTo>
                  <a:lnTo>
                    <a:pt x="1160" y="5803"/>
                  </a:lnTo>
                  <a:lnTo>
                    <a:pt x="0" y="8623"/>
                  </a:lnTo>
                  <a:lnTo>
                    <a:pt x="0" y="997750"/>
                  </a:lnTo>
                  <a:lnTo>
                    <a:pt x="0" y="1001026"/>
                  </a:lnTo>
                  <a:lnTo>
                    <a:pt x="1160" y="1003833"/>
                  </a:lnTo>
                  <a:lnTo>
                    <a:pt x="5814" y="1008481"/>
                  </a:lnTo>
                  <a:lnTo>
                    <a:pt x="8616" y="1009650"/>
                  </a:lnTo>
                  <a:lnTo>
                    <a:pt x="5915926" y="1009650"/>
                  </a:lnTo>
                  <a:lnTo>
                    <a:pt x="5918733" y="1008481"/>
                  </a:lnTo>
                  <a:lnTo>
                    <a:pt x="5923381" y="1003833"/>
                  </a:lnTo>
                  <a:lnTo>
                    <a:pt x="5924550" y="1001026"/>
                  </a:lnTo>
                  <a:lnTo>
                    <a:pt x="5924550" y="8623"/>
                  </a:lnTo>
                  <a:lnTo>
                    <a:pt x="5923381" y="5803"/>
                  </a:lnTo>
                  <a:lnTo>
                    <a:pt x="5918733" y="1155"/>
                  </a:lnTo>
                  <a:lnTo>
                    <a:pt x="5915926" y="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09600" y="3714750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0" y="997750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60" y="5803"/>
                  </a:lnTo>
                  <a:lnTo>
                    <a:pt x="3487" y="3492"/>
                  </a:lnTo>
                  <a:lnTo>
                    <a:pt x="5814" y="1155"/>
                  </a:lnTo>
                  <a:lnTo>
                    <a:pt x="8616" y="0"/>
                  </a:lnTo>
                  <a:lnTo>
                    <a:pt x="11906" y="0"/>
                  </a:lnTo>
                  <a:lnTo>
                    <a:pt x="5912650" y="0"/>
                  </a:lnTo>
                  <a:lnTo>
                    <a:pt x="5915926" y="0"/>
                  </a:lnTo>
                  <a:lnTo>
                    <a:pt x="5918733" y="1155"/>
                  </a:lnTo>
                  <a:lnTo>
                    <a:pt x="5921057" y="3492"/>
                  </a:lnTo>
                  <a:lnTo>
                    <a:pt x="5923381" y="5803"/>
                  </a:lnTo>
                  <a:lnTo>
                    <a:pt x="5924550" y="8623"/>
                  </a:lnTo>
                  <a:lnTo>
                    <a:pt x="5924550" y="11912"/>
                  </a:lnTo>
                  <a:lnTo>
                    <a:pt x="5924550" y="997750"/>
                  </a:lnTo>
                  <a:lnTo>
                    <a:pt x="5924550" y="1001026"/>
                  </a:lnTo>
                  <a:lnTo>
                    <a:pt x="5923381" y="1003833"/>
                  </a:lnTo>
                  <a:lnTo>
                    <a:pt x="5921057" y="1006157"/>
                  </a:lnTo>
                  <a:lnTo>
                    <a:pt x="5918733" y="1008481"/>
                  </a:lnTo>
                  <a:lnTo>
                    <a:pt x="5915926" y="1009650"/>
                  </a:lnTo>
                  <a:lnTo>
                    <a:pt x="5912650" y="1009650"/>
                  </a:lnTo>
                  <a:lnTo>
                    <a:pt x="11906" y="1009650"/>
                  </a:lnTo>
                  <a:lnTo>
                    <a:pt x="8616" y="1009650"/>
                  </a:lnTo>
                  <a:lnTo>
                    <a:pt x="5814" y="1008481"/>
                  </a:lnTo>
                  <a:lnTo>
                    <a:pt x="3487" y="1006157"/>
                  </a:lnTo>
                  <a:lnTo>
                    <a:pt x="1160" y="1003833"/>
                  </a:lnTo>
                  <a:lnTo>
                    <a:pt x="0" y="1001026"/>
                  </a:lnTo>
                  <a:lnTo>
                    <a:pt x="0" y="997750"/>
                  </a:lnTo>
                  <a:close/>
                </a:path>
              </a:pathLst>
            </a:custGeom>
            <a:ln w="19050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19125" y="3723894"/>
            <a:ext cx="685800" cy="990600"/>
          </a:xfrm>
          <a:prstGeom prst="rect">
            <a:avLst/>
          </a:prstGeom>
          <a:solidFill>
            <a:srgbClr val="EEE8DD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 spc="-50" b="1">
                <a:solidFill>
                  <a:srgbClr val="736458"/>
                </a:solidFill>
                <a:latin typeface="Georgia"/>
                <a:cs typeface="Georgia"/>
              </a:rPr>
              <a:t>3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63675" y="3859212"/>
            <a:ext cx="2668270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736458"/>
                </a:solidFill>
                <a:latin typeface="Georgia"/>
                <a:cs typeface="Georgia"/>
              </a:rPr>
              <a:t>Top</a:t>
            </a:r>
            <a:r>
              <a:rPr dirty="0" sz="1650" spc="-50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b="1">
                <a:solidFill>
                  <a:srgbClr val="736458"/>
                </a:solidFill>
                <a:latin typeface="Georgia"/>
                <a:cs typeface="Georgia"/>
              </a:rPr>
              <a:t>5</a:t>
            </a:r>
            <a:r>
              <a:rPr dirty="0" sz="1650" spc="-50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spc="-25" b="1">
                <a:solidFill>
                  <a:srgbClr val="736458"/>
                </a:solidFill>
                <a:latin typeface="Georgia"/>
                <a:cs typeface="Georgia"/>
              </a:rPr>
              <a:t>Products</a:t>
            </a:r>
            <a:r>
              <a:rPr dirty="0" sz="1650" spc="-50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b="1">
                <a:solidFill>
                  <a:srgbClr val="736458"/>
                </a:solidFill>
                <a:latin typeface="Georgia"/>
                <a:cs typeface="Georgia"/>
              </a:rPr>
              <a:t>by</a:t>
            </a:r>
            <a:r>
              <a:rPr dirty="0" sz="1650" spc="-50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458"/>
                </a:solidFill>
                <a:latin typeface="Georgia"/>
                <a:cs typeface="Georgia"/>
              </a:rPr>
              <a:t>Rating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Gloves,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Sandals,</a:t>
            </a:r>
            <a:r>
              <a:rPr dirty="0" sz="1350" spc="-2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Boots,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Hat,</a:t>
            </a:r>
            <a:r>
              <a:rPr dirty="0" sz="1350" spc="-2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Skirt.</a:t>
            </a:r>
            <a:endParaRPr sz="1350">
              <a:latin typeface="Georgia"/>
              <a:cs typeface="Georg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0075" y="4905375"/>
            <a:ext cx="5943600" cy="1028700"/>
            <a:chOff x="600075" y="4905375"/>
            <a:chExt cx="5943600" cy="1028700"/>
          </a:xfrm>
        </p:grpSpPr>
        <p:sp>
          <p:nvSpPr>
            <p:cNvPr id="23" name="object 23"/>
            <p:cNvSpPr/>
            <p:nvPr/>
          </p:nvSpPr>
          <p:spPr>
            <a:xfrm>
              <a:off x="609600" y="4914900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5915926" y="0"/>
                  </a:moveTo>
                  <a:lnTo>
                    <a:pt x="8616" y="0"/>
                  </a:lnTo>
                  <a:lnTo>
                    <a:pt x="5814" y="1155"/>
                  </a:lnTo>
                  <a:lnTo>
                    <a:pt x="1160" y="5803"/>
                  </a:lnTo>
                  <a:lnTo>
                    <a:pt x="0" y="8623"/>
                  </a:lnTo>
                  <a:lnTo>
                    <a:pt x="0" y="997745"/>
                  </a:lnTo>
                  <a:lnTo>
                    <a:pt x="0" y="1001029"/>
                  </a:lnTo>
                  <a:lnTo>
                    <a:pt x="1160" y="1003837"/>
                  </a:lnTo>
                  <a:lnTo>
                    <a:pt x="5814" y="1008485"/>
                  </a:lnTo>
                  <a:lnTo>
                    <a:pt x="8616" y="1009651"/>
                  </a:lnTo>
                  <a:lnTo>
                    <a:pt x="5915926" y="1009651"/>
                  </a:lnTo>
                  <a:lnTo>
                    <a:pt x="5918733" y="1008485"/>
                  </a:lnTo>
                  <a:lnTo>
                    <a:pt x="5923381" y="1003837"/>
                  </a:lnTo>
                  <a:lnTo>
                    <a:pt x="5924550" y="1001029"/>
                  </a:lnTo>
                  <a:lnTo>
                    <a:pt x="5924550" y="8623"/>
                  </a:lnTo>
                  <a:lnTo>
                    <a:pt x="5923381" y="5803"/>
                  </a:lnTo>
                  <a:lnTo>
                    <a:pt x="5918733" y="1155"/>
                  </a:lnTo>
                  <a:lnTo>
                    <a:pt x="5915926" y="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9600" y="4914900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0" y="99774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60" y="5803"/>
                  </a:lnTo>
                  <a:lnTo>
                    <a:pt x="3487" y="3492"/>
                  </a:lnTo>
                  <a:lnTo>
                    <a:pt x="5814" y="1155"/>
                  </a:lnTo>
                  <a:lnTo>
                    <a:pt x="8616" y="0"/>
                  </a:lnTo>
                  <a:lnTo>
                    <a:pt x="11906" y="0"/>
                  </a:lnTo>
                  <a:lnTo>
                    <a:pt x="5912650" y="0"/>
                  </a:lnTo>
                  <a:lnTo>
                    <a:pt x="5915926" y="0"/>
                  </a:lnTo>
                  <a:lnTo>
                    <a:pt x="5918733" y="1155"/>
                  </a:lnTo>
                  <a:lnTo>
                    <a:pt x="5921057" y="3492"/>
                  </a:lnTo>
                  <a:lnTo>
                    <a:pt x="5923381" y="5803"/>
                  </a:lnTo>
                  <a:lnTo>
                    <a:pt x="5924550" y="8623"/>
                  </a:lnTo>
                  <a:lnTo>
                    <a:pt x="5924550" y="11912"/>
                  </a:lnTo>
                  <a:lnTo>
                    <a:pt x="5924550" y="997745"/>
                  </a:lnTo>
                  <a:lnTo>
                    <a:pt x="5924550" y="1001029"/>
                  </a:lnTo>
                  <a:lnTo>
                    <a:pt x="5923381" y="1003837"/>
                  </a:lnTo>
                  <a:lnTo>
                    <a:pt x="5921057" y="1006163"/>
                  </a:lnTo>
                  <a:lnTo>
                    <a:pt x="5918733" y="1008485"/>
                  </a:lnTo>
                  <a:lnTo>
                    <a:pt x="5915926" y="1009651"/>
                  </a:lnTo>
                  <a:lnTo>
                    <a:pt x="5912650" y="1009651"/>
                  </a:lnTo>
                  <a:lnTo>
                    <a:pt x="11906" y="1009651"/>
                  </a:lnTo>
                  <a:lnTo>
                    <a:pt x="8616" y="1009651"/>
                  </a:lnTo>
                  <a:lnTo>
                    <a:pt x="5814" y="1008485"/>
                  </a:lnTo>
                  <a:lnTo>
                    <a:pt x="3487" y="1006163"/>
                  </a:lnTo>
                  <a:lnTo>
                    <a:pt x="1160" y="1003837"/>
                  </a:lnTo>
                  <a:lnTo>
                    <a:pt x="0" y="1001029"/>
                  </a:lnTo>
                  <a:lnTo>
                    <a:pt x="0" y="997745"/>
                  </a:lnTo>
                  <a:close/>
                </a:path>
              </a:pathLst>
            </a:custGeom>
            <a:ln w="19050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19125" y="4924044"/>
            <a:ext cx="685800" cy="990600"/>
          </a:xfrm>
          <a:prstGeom prst="rect">
            <a:avLst/>
          </a:prstGeom>
          <a:solidFill>
            <a:srgbClr val="EEE8DD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000" spc="-50" b="1">
                <a:solidFill>
                  <a:srgbClr val="736458"/>
                </a:solidFill>
                <a:latin typeface="Georgia"/>
                <a:cs typeface="Georgia"/>
              </a:rPr>
              <a:t>4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63675" y="5059363"/>
            <a:ext cx="472376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736458"/>
                </a:solidFill>
                <a:latin typeface="Georgia"/>
                <a:cs typeface="Georgia"/>
              </a:rPr>
              <a:t>Shipping</a:t>
            </a:r>
            <a:r>
              <a:rPr dirty="0" sz="1650" spc="-75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b="1">
                <a:solidFill>
                  <a:srgbClr val="736458"/>
                </a:solidFill>
                <a:latin typeface="Georgia"/>
                <a:cs typeface="Georgia"/>
              </a:rPr>
              <a:t>Type</a:t>
            </a:r>
            <a:r>
              <a:rPr dirty="0" sz="1650" spc="-75" b="1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458"/>
                </a:solidFill>
                <a:latin typeface="Georgia"/>
                <a:cs typeface="Georgia"/>
              </a:rPr>
              <a:t>Comparison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Express</a:t>
            </a:r>
            <a:r>
              <a:rPr dirty="0" sz="1350" spc="-3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shipping</a:t>
            </a:r>
            <a:r>
              <a:rPr dirty="0" sz="135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users</a:t>
            </a:r>
            <a:r>
              <a:rPr dirty="0" sz="135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had</a:t>
            </a:r>
            <a:r>
              <a:rPr dirty="0" sz="135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higher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average</a:t>
            </a:r>
            <a:r>
              <a:rPr dirty="0" sz="135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purchase</a:t>
            </a:r>
            <a:r>
              <a:rPr dirty="0" sz="1350" spc="-3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amounts.</a:t>
            </a:r>
            <a:endParaRPr sz="13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610725" cy="6439535"/>
          </a:xfrm>
          <a:custGeom>
            <a:avLst/>
            <a:gdLst/>
            <a:ahLst/>
            <a:cxnLst/>
            <a:rect l="l" t="t" r="r" b="b"/>
            <a:pathLst>
              <a:path w="9610725" h="6439535">
                <a:moveTo>
                  <a:pt x="9610659" y="6439142"/>
                </a:moveTo>
                <a:lnTo>
                  <a:pt x="0" y="6439142"/>
                </a:lnTo>
                <a:lnTo>
                  <a:pt x="0" y="0"/>
                </a:lnTo>
                <a:lnTo>
                  <a:pt x="9610659" y="0"/>
                </a:lnTo>
                <a:lnTo>
                  <a:pt x="9610659" y="6439142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35"/>
              </a:spcBef>
            </a:pPr>
            <a:r>
              <a:rPr dirty="0" sz="2800" spc="-10"/>
              <a:t>SQL</a:t>
            </a:r>
            <a:r>
              <a:rPr dirty="0" sz="2800" spc="-135"/>
              <a:t> </a:t>
            </a:r>
            <a:r>
              <a:rPr dirty="0" sz="2800" spc="-45"/>
              <a:t>Insights</a:t>
            </a:r>
            <a:r>
              <a:rPr dirty="0" sz="2800" spc="-135"/>
              <a:t> </a:t>
            </a:r>
            <a:r>
              <a:rPr dirty="0" sz="2800" spc="-35"/>
              <a:t>Continued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512568" y="1145270"/>
            <a:ext cx="8585835" cy="848994"/>
          </a:xfrm>
          <a:custGeom>
            <a:avLst/>
            <a:gdLst/>
            <a:ahLst/>
            <a:cxnLst/>
            <a:rect l="l" t="t" r="r" b="b"/>
            <a:pathLst>
              <a:path w="8585835" h="848994">
                <a:moveTo>
                  <a:pt x="0" y="838930"/>
                </a:moveTo>
                <a:lnTo>
                  <a:pt x="0" y="10011"/>
                </a:lnTo>
                <a:lnTo>
                  <a:pt x="0" y="7246"/>
                </a:lnTo>
                <a:lnTo>
                  <a:pt x="977" y="4886"/>
                </a:lnTo>
                <a:lnTo>
                  <a:pt x="2932" y="2932"/>
                </a:lnTo>
                <a:lnTo>
                  <a:pt x="4886" y="977"/>
                </a:lnTo>
                <a:lnTo>
                  <a:pt x="7246" y="0"/>
                </a:lnTo>
                <a:lnTo>
                  <a:pt x="10011" y="0"/>
                </a:lnTo>
                <a:lnTo>
                  <a:pt x="8575511" y="0"/>
                </a:lnTo>
                <a:lnTo>
                  <a:pt x="8578275" y="0"/>
                </a:lnTo>
                <a:lnTo>
                  <a:pt x="8580635" y="977"/>
                </a:lnTo>
                <a:lnTo>
                  <a:pt x="8582589" y="2932"/>
                </a:lnTo>
                <a:lnTo>
                  <a:pt x="8584544" y="4886"/>
                </a:lnTo>
                <a:lnTo>
                  <a:pt x="8585521" y="7246"/>
                </a:lnTo>
                <a:lnTo>
                  <a:pt x="8585522" y="10011"/>
                </a:lnTo>
                <a:lnTo>
                  <a:pt x="8585522" y="838930"/>
                </a:lnTo>
                <a:lnTo>
                  <a:pt x="8575511" y="848941"/>
                </a:lnTo>
                <a:lnTo>
                  <a:pt x="10011" y="848941"/>
                </a:lnTo>
                <a:lnTo>
                  <a:pt x="0" y="841694"/>
                </a:lnTo>
                <a:lnTo>
                  <a:pt x="0" y="838930"/>
                </a:lnTo>
                <a:close/>
              </a:path>
            </a:pathLst>
          </a:custGeom>
          <a:ln w="16017">
            <a:solidFill>
              <a:srgbClr val="D4CD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20577" y="1153159"/>
            <a:ext cx="577215" cy="833119"/>
          </a:xfrm>
          <a:prstGeom prst="rect">
            <a:avLst/>
          </a:prstGeom>
          <a:solidFill>
            <a:srgbClr val="EDE7DD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700" spc="-50" b="1">
                <a:solidFill>
                  <a:srgbClr val="736558"/>
                </a:solidFill>
                <a:latin typeface="Georgia"/>
                <a:cs typeface="Georgia"/>
              </a:rPr>
              <a:t>1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216" y="1264716"/>
            <a:ext cx="798957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4"/>
              </a:spcBef>
            </a:pPr>
            <a:r>
              <a:rPr dirty="0" sz="1400" spc="-30" b="1">
                <a:solidFill>
                  <a:srgbClr val="736558"/>
                </a:solidFill>
                <a:latin typeface="Georgia"/>
                <a:cs typeface="Georgia"/>
              </a:rPr>
              <a:t>Subscribers</a:t>
            </a:r>
            <a:r>
              <a:rPr dirty="0" sz="1400" spc="-25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400" b="1">
                <a:solidFill>
                  <a:srgbClr val="736558"/>
                </a:solidFill>
                <a:latin typeface="Georgia"/>
                <a:cs typeface="Georgia"/>
              </a:rPr>
              <a:t>vs.</a:t>
            </a:r>
            <a:r>
              <a:rPr dirty="0" sz="1400" spc="-25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400" spc="-35" b="1">
                <a:solidFill>
                  <a:srgbClr val="736558"/>
                </a:solidFill>
                <a:latin typeface="Georgia"/>
                <a:cs typeface="Georgia"/>
              </a:rPr>
              <a:t>Non-</a:t>
            </a:r>
            <a:r>
              <a:rPr dirty="0" sz="1400" spc="-10" b="1">
                <a:solidFill>
                  <a:srgbClr val="736558"/>
                </a:solidFill>
                <a:latin typeface="Georgia"/>
                <a:cs typeface="Georgia"/>
              </a:rPr>
              <a:t>Subscribers</a:t>
            </a:r>
            <a:endParaRPr sz="1400">
              <a:latin typeface="Georgia"/>
              <a:cs typeface="Georgia"/>
            </a:endParaRPr>
          </a:p>
          <a:p>
            <a:pPr marL="144145">
              <a:lnSpc>
                <a:spcPct val="100000"/>
              </a:lnSpc>
              <a:spcBef>
                <a:spcPts val="1019"/>
              </a:spcBef>
            </a:pP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Non-subscribers</a:t>
            </a:r>
            <a:r>
              <a:rPr dirty="0" sz="1100" spc="14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contributed</a:t>
            </a:r>
            <a:r>
              <a:rPr dirty="0" sz="1100" spc="14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more</a:t>
            </a:r>
            <a:r>
              <a:rPr dirty="0" sz="1100" spc="14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total</a:t>
            </a:r>
            <a:r>
              <a:rPr dirty="0" sz="1100" spc="14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558"/>
                </a:solidFill>
                <a:latin typeface="Georgia"/>
                <a:cs typeface="Georgia"/>
              </a:rPr>
              <a:t>revenue.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2568" y="2154389"/>
            <a:ext cx="8585835" cy="848994"/>
          </a:xfrm>
          <a:custGeom>
            <a:avLst/>
            <a:gdLst/>
            <a:ahLst/>
            <a:cxnLst/>
            <a:rect l="l" t="t" r="r" b="b"/>
            <a:pathLst>
              <a:path w="8585835" h="848994">
                <a:moveTo>
                  <a:pt x="0" y="838930"/>
                </a:moveTo>
                <a:lnTo>
                  <a:pt x="0" y="10011"/>
                </a:lnTo>
                <a:lnTo>
                  <a:pt x="0" y="7246"/>
                </a:lnTo>
                <a:lnTo>
                  <a:pt x="977" y="4886"/>
                </a:lnTo>
                <a:lnTo>
                  <a:pt x="2932" y="2932"/>
                </a:lnTo>
                <a:lnTo>
                  <a:pt x="4886" y="977"/>
                </a:lnTo>
                <a:lnTo>
                  <a:pt x="7246" y="0"/>
                </a:lnTo>
                <a:lnTo>
                  <a:pt x="10011" y="0"/>
                </a:lnTo>
                <a:lnTo>
                  <a:pt x="8575511" y="0"/>
                </a:lnTo>
                <a:lnTo>
                  <a:pt x="8578275" y="0"/>
                </a:lnTo>
                <a:lnTo>
                  <a:pt x="8580635" y="977"/>
                </a:lnTo>
                <a:lnTo>
                  <a:pt x="8582589" y="2932"/>
                </a:lnTo>
                <a:lnTo>
                  <a:pt x="8584544" y="4886"/>
                </a:lnTo>
                <a:lnTo>
                  <a:pt x="8585521" y="7246"/>
                </a:lnTo>
                <a:lnTo>
                  <a:pt x="8585522" y="10011"/>
                </a:lnTo>
                <a:lnTo>
                  <a:pt x="8585522" y="838930"/>
                </a:lnTo>
                <a:lnTo>
                  <a:pt x="8575511" y="848941"/>
                </a:lnTo>
                <a:lnTo>
                  <a:pt x="10011" y="848941"/>
                </a:lnTo>
                <a:lnTo>
                  <a:pt x="7246" y="848941"/>
                </a:lnTo>
                <a:lnTo>
                  <a:pt x="4886" y="847963"/>
                </a:lnTo>
                <a:lnTo>
                  <a:pt x="2932" y="846009"/>
                </a:lnTo>
                <a:lnTo>
                  <a:pt x="977" y="844054"/>
                </a:lnTo>
                <a:lnTo>
                  <a:pt x="0" y="841694"/>
                </a:lnTo>
                <a:lnTo>
                  <a:pt x="0" y="838930"/>
                </a:lnTo>
                <a:close/>
              </a:path>
            </a:pathLst>
          </a:custGeom>
          <a:ln w="16017">
            <a:solidFill>
              <a:srgbClr val="D4CD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20577" y="2162810"/>
            <a:ext cx="577215" cy="833119"/>
          </a:xfrm>
          <a:prstGeom prst="rect">
            <a:avLst/>
          </a:prstGeom>
          <a:solidFill>
            <a:srgbClr val="EDE7DD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700" spc="-50" b="1">
                <a:solidFill>
                  <a:srgbClr val="736558"/>
                </a:solidFill>
                <a:latin typeface="Georgia"/>
                <a:cs typeface="Georgia"/>
              </a:rPr>
              <a:t>2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16" y="2273836"/>
            <a:ext cx="798957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4"/>
              </a:spcBef>
            </a:pPr>
            <a:r>
              <a:rPr dirty="0" sz="1400" spc="-30" b="1">
                <a:solidFill>
                  <a:srgbClr val="736558"/>
                </a:solidFill>
                <a:latin typeface="Georgia"/>
                <a:cs typeface="Georgia"/>
              </a:rPr>
              <a:t>Discount-</a:t>
            </a:r>
            <a:r>
              <a:rPr dirty="0" sz="1400" spc="-25" b="1">
                <a:solidFill>
                  <a:srgbClr val="736558"/>
                </a:solidFill>
                <a:latin typeface="Georgia"/>
                <a:cs typeface="Georgia"/>
              </a:rPr>
              <a:t>Dependent</a:t>
            </a:r>
            <a:r>
              <a:rPr dirty="0" sz="1400" spc="4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400" spc="-10" b="1">
                <a:solidFill>
                  <a:srgbClr val="736558"/>
                </a:solidFill>
                <a:latin typeface="Georgia"/>
                <a:cs typeface="Georgia"/>
              </a:rPr>
              <a:t>Products</a:t>
            </a:r>
            <a:endParaRPr sz="1400">
              <a:latin typeface="Georgia"/>
              <a:cs typeface="Georgia"/>
            </a:endParaRPr>
          </a:p>
          <a:p>
            <a:pPr marL="144145">
              <a:lnSpc>
                <a:spcPct val="100000"/>
              </a:lnSpc>
              <a:spcBef>
                <a:spcPts val="1019"/>
              </a:spcBef>
            </a:pP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Hat,</a:t>
            </a:r>
            <a:r>
              <a:rPr dirty="0" sz="1100" spc="10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Sneakers,</a:t>
            </a:r>
            <a:r>
              <a:rPr dirty="0" sz="1100" spc="10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Coat,</a:t>
            </a:r>
            <a:r>
              <a:rPr dirty="0" sz="1100" spc="10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Sweater,</a:t>
            </a:r>
            <a:r>
              <a:rPr dirty="0" sz="1100" spc="10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Pants</a:t>
            </a:r>
            <a:r>
              <a:rPr dirty="0" sz="1100" spc="10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had</a:t>
            </a:r>
            <a:r>
              <a:rPr dirty="0" sz="1100" spc="10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highest</a:t>
            </a:r>
            <a:r>
              <a:rPr dirty="0" sz="1100" spc="10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discount</a:t>
            </a:r>
            <a:r>
              <a:rPr dirty="0" sz="1100" spc="10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558"/>
                </a:solidFill>
                <a:latin typeface="Georgia"/>
                <a:cs typeface="Georgia"/>
              </a:rPr>
              <a:t>rates.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2568" y="3163508"/>
            <a:ext cx="8585835" cy="848994"/>
          </a:xfrm>
          <a:custGeom>
            <a:avLst/>
            <a:gdLst/>
            <a:ahLst/>
            <a:cxnLst/>
            <a:rect l="l" t="t" r="r" b="b"/>
            <a:pathLst>
              <a:path w="8585835" h="848995">
                <a:moveTo>
                  <a:pt x="0" y="838930"/>
                </a:moveTo>
                <a:lnTo>
                  <a:pt x="0" y="10011"/>
                </a:lnTo>
                <a:lnTo>
                  <a:pt x="0" y="7246"/>
                </a:lnTo>
                <a:lnTo>
                  <a:pt x="977" y="4886"/>
                </a:lnTo>
                <a:lnTo>
                  <a:pt x="2932" y="2931"/>
                </a:lnTo>
                <a:lnTo>
                  <a:pt x="4886" y="977"/>
                </a:lnTo>
                <a:lnTo>
                  <a:pt x="7246" y="0"/>
                </a:lnTo>
                <a:lnTo>
                  <a:pt x="10011" y="0"/>
                </a:lnTo>
                <a:lnTo>
                  <a:pt x="8575511" y="0"/>
                </a:lnTo>
                <a:lnTo>
                  <a:pt x="8578275" y="0"/>
                </a:lnTo>
                <a:lnTo>
                  <a:pt x="8580635" y="977"/>
                </a:lnTo>
                <a:lnTo>
                  <a:pt x="8582589" y="2931"/>
                </a:lnTo>
                <a:lnTo>
                  <a:pt x="8584544" y="4886"/>
                </a:lnTo>
                <a:lnTo>
                  <a:pt x="8585521" y="7246"/>
                </a:lnTo>
                <a:lnTo>
                  <a:pt x="8585522" y="10011"/>
                </a:lnTo>
                <a:lnTo>
                  <a:pt x="8585522" y="838930"/>
                </a:lnTo>
                <a:lnTo>
                  <a:pt x="8575511" y="848941"/>
                </a:lnTo>
                <a:lnTo>
                  <a:pt x="10011" y="848941"/>
                </a:lnTo>
                <a:lnTo>
                  <a:pt x="7246" y="848941"/>
                </a:lnTo>
                <a:lnTo>
                  <a:pt x="4886" y="847963"/>
                </a:lnTo>
                <a:lnTo>
                  <a:pt x="2932" y="846009"/>
                </a:lnTo>
                <a:lnTo>
                  <a:pt x="977" y="844054"/>
                </a:lnTo>
                <a:lnTo>
                  <a:pt x="0" y="841694"/>
                </a:lnTo>
                <a:lnTo>
                  <a:pt x="0" y="838930"/>
                </a:lnTo>
                <a:close/>
              </a:path>
            </a:pathLst>
          </a:custGeom>
          <a:ln w="16017">
            <a:solidFill>
              <a:srgbClr val="D4CD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20577" y="3171189"/>
            <a:ext cx="577215" cy="833119"/>
          </a:xfrm>
          <a:prstGeom prst="rect">
            <a:avLst/>
          </a:prstGeom>
          <a:solidFill>
            <a:srgbClr val="EDE7DD"/>
          </a:solidFill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700" spc="-50" b="1">
                <a:solidFill>
                  <a:srgbClr val="736558"/>
                </a:solidFill>
                <a:latin typeface="Georgia"/>
                <a:cs typeface="Georgia"/>
              </a:rPr>
              <a:t>3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7216" y="3282955"/>
            <a:ext cx="798957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4"/>
              </a:spcBef>
            </a:pPr>
            <a:r>
              <a:rPr dirty="0" sz="1400" spc="-35" b="1">
                <a:solidFill>
                  <a:srgbClr val="736558"/>
                </a:solidFill>
                <a:latin typeface="Georgia"/>
                <a:cs typeface="Georgia"/>
              </a:rPr>
              <a:t>Customer</a:t>
            </a:r>
            <a:r>
              <a:rPr dirty="0" sz="1400" spc="-10" b="1">
                <a:solidFill>
                  <a:srgbClr val="736558"/>
                </a:solidFill>
                <a:latin typeface="Georgia"/>
                <a:cs typeface="Georgia"/>
              </a:rPr>
              <a:t> Segmentation</a:t>
            </a:r>
            <a:endParaRPr sz="1400">
              <a:latin typeface="Georgia"/>
              <a:cs typeface="Georgia"/>
            </a:endParaRPr>
          </a:p>
          <a:p>
            <a:pPr marL="144145">
              <a:lnSpc>
                <a:spcPct val="100000"/>
              </a:lnSpc>
              <a:spcBef>
                <a:spcPts val="1019"/>
              </a:spcBef>
            </a:pP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Loyal</a:t>
            </a:r>
            <a:r>
              <a:rPr dirty="0" sz="1100" spc="7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(3116),</a:t>
            </a:r>
            <a:r>
              <a:rPr dirty="0" sz="1100" spc="8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Returning</a:t>
            </a:r>
            <a:r>
              <a:rPr dirty="0" sz="1100" spc="8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(701),</a:t>
            </a:r>
            <a:r>
              <a:rPr dirty="0" sz="1100" spc="8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New</a:t>
            </a:r>
            <a:r>
              <a:rPr dirty="0" sz="1100" spc="8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558"/>
                </a:solidFill>
                <a:latin typeface="Georgia"/>
                <a:cs typeface="Georgia"/>
              </a:rPr>
              <a:t>(83).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2568" y="4172627"/>
            <a:ext cx="8585835" cy="848994"/>
          </a:xfrm>
          <a:custGeom>
            <a:avLst/>
            <a:gdLst/>
            <a:ahLst/>
            <a:cxnLst/>
            <a:rect l="l" t="t" r="r" b="b"/>
            <a:pathLst>
              <a:path w="8585835" h="848995">
                <a:moveTo>
                  <a:pt x="0" y="838930"/>
                </a:moveTo>
                <a:lnTo>
                  <a:pt x="0" y="10011"/>
                </a:lnTo>
                <a:lnTo>
                  <a:pt x="0" y="7246"/>
                </a:lnTo>
                <a:lnTo>
                  <a:pt x="977" y="4886"/>
                </a:lnTo>
                <a:lnTo>
                  <a:pt x="2932" y="2931"/>
                </a:lnTo>
                <a:lnTo>
                  <a:pt x="4886" y="977"/>
                </a:lnTo>
                <a:lnTo>
                  <a:pt x="7246" y="0"/>
                </a:lnTo>
                <a:lnTo>
                  <a:pt x="10011" y="0"/>
                </a:lnTo>
                <a:lnTo>
                  <a:pt x="8575511" y="0"/>
                </a:lnTo>
                <a:lnTo>
                  <a:pt x="8578275" y="0"/>
                </a:lnTo>
                <a:lnTo>
                  <a:pt x="8580635" y="977"/>
                </a:lnTo>
                <a:lnTo>
                  <a:pt x="8582589" y="2931"/>
                </a:lnTo>
                <a:lnTo>
                  <a:pt x="8584544" y="4886"/>
                </a:lnTo>
                <a:lnTo>
                  <a:pt x="8585521" y="7246"/>
                </a:lnTo>
                <a:lnTo>
                  <a:pt x="8585522" y="10011"/>
                </a:lnTo>
                <a:lnTo>
                  <a:pt x="8585522" y="838930"/>
                </a:lnTo>
                <a:lnTo>
                  <a:pt x="8575511" y="848941"/>
                </a:lnTo>
                <a:lnTo>
                  <a:pt x="10011" y="848941"/>
                </a:lnTo>
                <a:lnTo>
                  <a:pt x="7246" y="848941"/>
                </a:lnTo>
                <a:lnTo>
                  <a:pt x="4886" y="847963"/>
                </a:lnTo>
                <a:lnTo>
                  <a:pt x="2932" y="846009"/>
                </a:lnTo>
                <a:lnTo>
                  <a:pt x="977" y="844054"/>
                </a:lnTo>
                <a:lnTo>
                  <a:pt x="0" y="841694"/>
                </a:lnTo>
                <a:lnTo>
                  <a:pt x="0" y="838930"/>
                </a:lnTo>
                <a:close/>
              </a:path>
            </a:pathLst>
          </a:custGeom>
          <a:ln w="16017">
            <a:solidFill>
              <a:srgbClr val="D4CD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20577" y="4180839"/>
            <a:ext cx="577215" cy="833119"/>
          </a:xfrm>
          <a:prstGeom prst="rect">
            <a:avLst/>
          </a:prstGeom>
          <a:solidFill>
            <a:srgbClr val="EDE7DD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700" spc="-50" b="1">
                <a:solidFill>
                  <a:srgbClr val="736558"/>
                </a:solidFill>
                <a:latin typeface="Georgia"/>
                <a:cs typeface="Georgia"/>
              </a:rPr>
              <a:t>4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7216" y="4292074"/>
            <a:ext cx="798957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4"/>
              </a:spcBef>
            </a:pPr>
            <a:r>
              <a:rPr dirty="0" sz="1400" spc="-25" b="1">
                <a:solidFill>
                  <a:srgbClr val="736558"/>
                </a:solidFill>
                <a:latin typeface="Georgia"/>
                <a:cs typeface="Georgia"/>
              </a:rPr>
              <a:t>Repeat</a:t>
            </a:r>
            <a:r>
              <a:rPr dirty="0" sz="1400" spc="-55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400" spc="-25" b="1">
                <a:solidFill>
                  <a:srgbClr val="736558"/>
                </a:solidFill>
                <a:latin typeface="Georgia"/>
                <a:cs typeface="Georgia"/>
              </a:rPr>
              <a:t>Buyers</a:t>
            </a:r>
            <a:r>
              <a:rPr dirty="0" sz="1400" spc="-5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400" b="1">
                <a:solidFill>
                  <a:srgbClr val="736558"/>
                </a:solidFill>
                <a:latin typeface="Georgia"/>
                <a:cs typeface="Georgia"/>
              </a:rPr>
              <a:t>&amp;</a:t>
            </a:r>
            <a:r>
              <a:rPr dirty="0" sz="1400" spc="-5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400" spc="-10" b="1">
                <a:solidFill>
                  <a:srgbClr val="736558"/>
                </a:solidFill>
                <a:latin typeface="Georgia"/>
                <a:cs typeface="Georgia"/>
              </a:rPr>
              <a:t>Subscriptions</a:t>
            </a:r>
            <a:endParaRPr sz="1400">
              <a:latin typeface="Georgia"/>
              <a:cs typeface="Georgia"/>
            </a:endParaRPr>
          </a:p>
          <a:p>
            <a:pPr marL="144145">
              <a:lnSpc>
                <a:spcPct val="100000"/>
              </a:lnSpc>
              <a:spcBef>
                <a:spcPts val="1019"/>
              </a:spcBef>
            </a:pP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Repeat</a:t>
            </a:r>
            <a:r>
              <a:rPr dirty="0" sz="1100" spc="7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buyers</a:t>
            </a:r>
            <a:r>
              <a:rPr dirty="0" sz="1100" spc="7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are</a:t>
            </a:r>
            <a:r>
              <a:rPr dirty="0" sz="1100" spc="7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more</a:t>
            </a:r>
            <a:r>
              <a:rPr dirty="0" sz="1100" spc="7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likely</a:t>
            </a:r>
            <a:r>
              <a:rPr dirty="0" sz="1100" spc="7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dirty="0" sz="1100" spc="7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558"/>
                </a:solidFill>
                <a:latin typeface="Georgia"/>
                <a:cs typeface="Georgia"/>
              </a:rPr>
              <a:t>subscribe.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2568" y="5181747"/>
            <a:ext cx="8585835" cy="848994"/>
          </a:xfrm>
          <a:custGeom>
            <a:avLst/>
            <a:gdLst/>
            <a:ahLst/>
            <a:cxnLst/>
            <a:rect l="l" t="t" r="r" b="b"/>
            <a:pathLst>
              <a:path w="8585835" h="848995">
                <a:moveTo>
                  <a:pt x="0" y="838930"/>
                </a:moveTo>
                <a:lnTo>
                  <a:pt x="0" y="10011"/>
                </a:lnTo>
                <a:lnTo>
                  <a:pt x="0" y="7246"/>
                </a:lnTo>
                <a:lnTo>
                  <a:pt x="977" y="4886"/>
                </a:lnTo>
                <a:lnTo>
                  <a:pt x="2932" y="2931"/>
                </a:lnTo>
                <a:lnTo>
                  <a:pt x="4886" y="977"/>
                </a:lnTo>
                <a:lnTo>
                  <a:pt x="7246" y="0"/>
                </a:lnTo>
                <a:lnTo>
                  <a:pt x="10011" y="0"/>
                </a:lnTo>
                <a:lnTo>
                  <a:pt x="8575511" y="0"/>
                </a:lnTo>
                <a:lnTo>
                  <a:pt x="8578275" y="0"/>
                </a:lnTo>
                <a:lnTo>
                  <a:pt x="8580635" y="977"/>
                </a:lnTo>
                <a:lnTo>
                  <a:pt x="8582589" y="2931"/>
                </a:lnTo>
                <a:lnTo>
                  <a:pt x="8584544" y="4886"/>
                </a:lnTo>
                <a:lnTo>
                  <a:pt x="8585521" y="7246"/>
                </a:lnTo>
                <a:lnTo>
                  <a:pt x="8585522" y="10011"/>
                </a:lnTo>
                <a:lnTo>
                  <a:pt x="8585522" y="838930"/>
                </a:lnTo>
                <a:lnTo>
                  <a:pt x="8575511" y="848941"/>
                </a:lnTo>
                <a:lnTo>
                  <a:pt x="10011" y="848941"/>
                </a:lnTo>
                <a:lnTo>
                  <a:pt x="7246" y="848941"/>
                </a:lnTo>
                <a:lnTo>
                  <a:pt x="4886" y="847963"/>
                </a:lnTo>
                <a:lnTo>
                  <a:pt x="2932" y="846009"/>
                </a:lnTo>
                <a:lnTo>
                  <a:pt x="977" y="844054"/>
                </a:lnTo>
                <a:lnTo>
                  <a:pt x="0" y="841694"/>
                </a:lnTo>
                <a:lnTo>
                  <a:pt x="0" y="838930"/>
                </a:lnTo>
                <a:close/>
              </a:path>
            </a:pathLst>
          </a:custGeom>
          <a:ln w="16017">
            <a:solidFill>
              <a:srgbClr val="D4CD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20577" y="5189220"/>
            <a:ext cx="577215" cy="833119"/>
          </a:xfrm>
          <a:prstGeom prst="rect">
            <a:avLst/>
          </a:prstGeom>
          <a:solidFill>
            <a:srgbClr val="EDE7DD"/>
          </a:solidFill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700" spc="-50" b="1">
                <a:solidFill>
                  <a:srgbClr val="736558"/>
                </a:solidFill>
                <a:latin typeface="Georgia"/>
                <a:cs typeface="Georgia"/>
              </a:rPr>
              <a:t>5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97216" y="5301194"/>
            <a:ext cx="798957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14"/>
              </a:spcBef>
            </a:pPr>
            <a:r>
              <a:rPr dirty="0" sz="1400" spc="-20" b="1">
                <a:solidFill>
                  <a:srgbClr val="736558"/>
                </a:solidFill>
                <a:latin typeface="Georgia"/>
                <a:cs typeface="Georgia"/>
              </a:rPr>
              <a:t>Revenue</a:t>
            </a:r>
            <a:r>
              <a:rPr dirty="0" sz="1400" spc="-65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400" b="1">
                <a:solidFill>
                  <a:srgbClr val="736558"/>
                </a:solidFill>
                <a:latin typeface="Georgia"/>
                <a:cs typeface="Georgia"/>
              </a:rPr>
              <a:t>by</a:t>
            </a:r>
            <a:r>
              <a:rPr dirty="0" sz="1400" spc="-65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400" b="1">
                <a:solidFill>
                  <a:srgbClr val="736558"/>
                </a:solidFill>
                <a:latin typeface="Georgia"/>
                <a:cs typeface="Georgia"/>
              </a:rPr>
              <a:t>Age</a:t>
            </a:r>
            <a:r>
              <a:rPr dirty="0" sz="1400" spc="-65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400" spc="-10" b="1">
                <a:solidFill>
                  <a:srgbClr val="736558"/>
                </a:solidFill>
                <a:latin typeface="Georgia"/>
                <a:cs typeface="Georgia"/>
              </a:rPr>
              <a:t>Group</a:t>
            </a:r>
            <a:endParaRPr sz="1400">
              <a:latin typeface="Georgia"/>
              <a:cs typeface="Georgia"/>
            </a:endParaRPr>
          </a:p>
          <a:p>
            <a:pPr marL="144145">
              <a:lnSpc>
                <a:spcPct val="100000"/>
              </a:lnSpc>
              <a:spcBef>
                <a:spcPts val="1019"/>
              </a:spcBef>
            </a:pP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Young</a:t>
            </a:r>
            <a:r>
              <a:rPr dirty="0" sz="1100" spc="9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Adult</a:t>
            </a:r>
            <a:r>
              <a:rPr dirty="0" sz="1100" spc="10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group</a:t>
            </a:r>
            <a:r>
              <a:rPr dirty="0" sz="1100" spc="9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generated</a:t>
            </a:r>
            <a:r>
              <a:rPr dirty="0" sz="1100" spc="10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736558"/>
                </a:solidFill>
                <a:latin typeface="Georgia"/>
                <a:cs typeface="Georgia"/>
              </a:rPr>
              <a:t>highest</a:t>
            </a:r>
            <a:r>
              <a:rPr dirty="0" sz="1100" spc="9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736558"/>
                </a:solidFill>
                <a:latin typeface="Georgia"/>
                <a:cs typeface="Georgia"/>
              </a:rPr>
              <a:t>revenue.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9" name="object 19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5335" y="6007944"/>
            <a:ext cx="1475236" cy="352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029825" cy="6436360"/>
          </a:xfrm>
          <a:custGeom>
            <a:avLst/>
            <a:gdLst/>
            <a:ahLst/>
            <a:cxnLst/>
            <a:rect l="l" t="t" r="r" b="b"/>
            <a:pathLst>
              <a:path w="10029825" h="6436360">
                <a:moveTo>
                  <a:pt x="10029729" y="0"/>
                </a:moveTo>
                <a:lnTo>
                  <a:pt x="0" y="0"/>
                </a:lnTo>
                <a:lnTo>
                  <a:pt x="0" y="6435743"/>
                </a:lnTo>
                <a:lnTo>
                  <a:pt x="10029729" y="6435743"/>
                </a:lnTo>
                <a:lnTo>
                  <a:pt x="10029729" y="0"/>
                </a:lnTo>
                <a:close/>
              </a:path>
            </a:pathLst>
          </a:custGeom>
          <a:solidFill>
            <a:srgbClr val="F9F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110"/>
              </a:spcBef>
            </a:pPr>
            <a:r>
              <a:rPr dirty="0" sz="2950" spc="-40"/>
              <a:t>Top</a:t>
            </a:r>
            <a:r>
              <a:rPr dirty="0" sz="2950" spc="-110"/>
              <a:t> </a:t>
            </a:r>
            <a:r>
              <a:rPr dirty="0" sz="2950" spc="-85"/>
              <a:t>Products</a:t>
            </a:r>
            <a:r>
              <a:rPr dirty="0" sz="2950" spc="-105"/>
              <a:t> </a:t>
            </a:r>
            <a:r>
              <a:rPr dirty="0" sz="2950" spc="-50"/>
              <a:t>Per</a:t>
            </a:r>
            <a:r>
              <a:rPr dirty="0" sz="2950" spc="-105"/>
              <a:t> </a:t>
            </a:r>
            <a:r>
              <a:rPr dirty="0" sz="2950" spc="-40"/>
              <a:t>Category</a:t>
            </a:r>
            <a:endParaRPr sz="2950"/>
          </a:p>
        </p:txBody>
      </p:sp>
      <p:grpSp>
        <p:nvGrpSpPr>
          <p:cNvPr id="4" name="object 4"/>
          <p:cNvGrpSpPr/>
          <p:nvPr/>
        </p:nvGrpSpPr>
        <p:grpSpPr>
          <a:xfrm>
            <a:off x="526294" y="1186585"/>
            <a:ext cx="8977630" cy="4831715"/>
            <a:chOff x="526294" y="1186585"/>
            <a:chExt cx="8977630" cy="4831715"/>
          </a:xfrm>
        </p:grpSpPr>
        <p:sp>
          <p:nvSpPr>
            <p:cNvPr id="5" name="object 5"/>
            <p:cNvSpPr/>
            <p:nvPr/>
          </p:nvSpPr>
          <p:spPr>
            <a:xfrm>
              <a:off x="530739" y="1191030"/>
              <a:ext cx="8968740" cy="4822825"/>
            </a:xfrm>
            <a:custGeom>
              <a:avLst/>
              <a:gdLst/>
              <a:ahLst/>
              <a:cxnLst/>
              <a:rect l="l" t="t" r="r" b="b"/>
              <a:pathLst>
                <a:path w="8968740" h="4822825">
                  <a:moveTo>
                    <a:pt x="0" y="4808002"/>
                  </a:moveTo>
                  <a:lnTo>
                    <a:pt x="0" y="14632"/>
                  </a:lnTo>
                  <a:lnTo>
                    <a:pt x="0" y="12682"/>
                  </a:lnTo>
                  <a:lnTo>
                    <a:pt x="369" y="10820"/>
                  </a:lnTo>
                  <a:lnTo>
                    <a:pt x="1114" y="9026"/>
                  </a:lnTo>
                  <a:lnTo>
                    <a:pt x="1854" y="7232"/>
                  </a:lnTo>
                  <a:lnTo>
                    <a:pt x="2911" y="5650"/>
                  </a:lnTo>
                  <a:lnTo>
                    <a:pt x="4283" y="4279"/>
                  </a:lnTo>
                  <a:lnTo>
                    <a:pt x="5654" y="2908"/>
                  </a:lnTo>
                  <a:lnTo>
                    <a:pt x="7239" y="1849"/>
                  </a:lnTo>
                  <a:lnTo>
                    <a:pt x="9028" y="1114"/>
                  </a:lnTo>
                  <a:lnTo>
                    <a:pt x="10822" y="367"/>
                  </a:lnTo>
                  <a:lnTo>
                    <a:pt x="12685" y="0"/>
                  </a:lnTo>
                  <a:lnTo>
                    <a:pt x="14626" y="0"/>
                  </a:lnTo>
                  <a:lnTo>
                    <a:pt x="8953629" y="0"/>
                  </a:lnTo>
                  <a:lnTo>
                    <a:pt x="8955568" y="0"/>
                  </a:lnTo>
                  <a:lnTo>
                    <a:pt x="8957429" y="367"/>
                  </a:lnTo>
                  <a:lnTo>
                    <a:pt x="8959223" y="1114"/>
                  </a:lnTo>
                  <a:lnTo>
                    <a:pt x="8961006" y="1849"/>
                  </a:lnTo>
                  <a:lnTo>
                    <a:pt x="8962588" y="2908"/>
                  </a:lnTo>
                  <a:lnTo>
                    <a:pt x="8968250" y="12682"/>
                  </a:lnTo>
                  <a:lnTo>
                    <a:pt x="8968250" y="14632"/>
                  </a:lnTo>
                  <a:lnTo>
                    <a:pt x="8968250" y="4808002"/>
                  </a:lnTo>
                  <a:lnTo>
                    <a:pt x="8968250" y="4809939"/>
                  </a:lnTo>
                  <a:lnTo>
                    <a:pt x="8967871" y="4811807"/>
                  </a:lnTo>
                  <a:lnTo>
                    <a:pt x="8955568" y="4822629"/>
                  </a:lnTo>
                  <a:lnTo>
                    <a:pt x="8953629" y="4822629"/>
                  </a:lnTo>
                  <a:lnTo>
                    <a:pt x="14626" y="4822629"/>
                  </a:lnTo>
                  <a:lnTo>
                    <a:pt x="12685" y="4822629"/>
                  </a:lnTo>
                  <a:lnTo>
                    <a:pt x="10822" y="4822255"/>
                  </a:lnTo>
                  <a:lnTo>
                    <a:pt x="9028" y="4821515"/>
                  </a:lnTo>
                  <a:lnTo>
                    <a:pt x="7239" y="4820770"/>
                  </a:lnTo>
                  <a:lnTo>
                    <a:pt x="5654" y="4819713"/>
                  </a:lnTo>
                  <a:lnTo>
                    <a:pt x="4283" y="4818341"/>
                  </a:lnTo>
                  <a:lnTo>
                    <a:pt x="2911" y="4816970"/>
                  </a:lnTo>
                  <a:lnTo>
                    <a:pt x="1854" y="4815390"/>
                  </a:lnTo>
                  <a:lnTo>
                    <a:pt x="1114" y="4813596"/>
                  </a:lnTo>
                  <a:lnTo>
                    <a:pt x="369" y="4811807"/>
                  </a:lnTo>
                  <a:lnTo>
                    <a:pt x="0" y="4809939"/>
                  </a:lnTo>
                  <a:lnTo>
                    <a:pt x="0" y="4808002"/>
                  </a:lnTo>
                  <a:close/>
                </a:path>
              </a:pathLst>
            </a:custGeom>
            <a:ln w="83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34911" y="1195209"/>
              <a:ext cx="8960485" cy="4814570"/>
            </a:xfrm>
            <a:custGeom>
              <a:avLst/>
              <a:gdLst/>
              <a:ahLst/>
              <a:cxnLst/>
              <a:rect l="l" t="t" r="r" b="b"/>
              <a:pathLst>
                <a:path w="8960485" h="4814570">
                  <a:moveTo>
                    <a:pt x="894321" y="4379658"/>
                  </a:moveTo>
                  <a:lnTo>
                    <a:pt x="0" y="4379658"/>
                  </a:lnTo>
                  <a:lnTo>
                    <a:pt x="0" y="4800663"/>
                  </a:lnTo>
                  <a:lnTo>
                    <a:pt x="1841" y="4805096"/>
                  </a:lnTo>
                  <a:lnTo>
                    <a:pt x="9182" y="4812436"/>
                  </a:lnTo>
                  <a:lnTo>
                    <a:pt x="13614" y="4814278"/>
                  </a:lnTo>
                  <a:lnTo>
                    <a:pt x="894321" y="4814278"/>
                  </a:lnTo>
                  <a:lnTo>
                    <a:pt x="894321" y="4379658"/>
                  </a:lnTo>
                  <a:close/>
                </a:path>
                <a:path w="8960485" h="4814570">
                  <a:moveTo>
                    <a:pt x="894321" y="0"/>
                  </a:moveTo>
                  <a:lnTo>
                    <a:pt x="13614" y="0"/>
                  </a:lnTo>
                  <a:lnTo>
                    <a:pt x="9182" y="1841"/>
                  </a:lnTo>
                  <a:lnTo>
                    <a:pt x="1841" y="9194"/>
                  </a:lnTo>
                  <a:lnTo>
                    <a:pt x="0" y="13627"/>
                  </a:lnTo>
                  <a:lnTo>
                    <a:pt x="0" y="434632"/>
                  </a:lnTo>
                  <a:lnTo>
                    <a:pt x="894321" y="434632"/>
                  </a:lnTo>
                  <a:lnTo>
                    <a:pt x="894321" y="0"/>
                  </a:lnTo>
                  <a:close/>
                </a:path>
                <a:path w="8960485" h="4814570">
                  <a:moveTo>
                    <a:pt x="8959888" y="4379658"/>
                  </a:moveTo>
                  <a:lnTo>
                    <a:pt x="6276937" y="4379658"/>
                  </a:lnTo>
                  <a:lnTo>
                    <a:pt x="6276937" y="4814278"/>
                  </a:lnTo>
                  <a:lnTo>
                    <a:pt x="8946286" y="4814278"/>
                  </a:lnTo>
                  <a:lnTo>
                    <a:pt x="8950706" y="4812436"/>
                  </a:lnTo>
                  <a:lnTo>
                    <a:pt x="8958059" y="4805096"/>
                  </a:lnTo>
                  <a:lnTo>
                    <a:pt x="8959888" y="4800663"/>
                  </a:lnTo>
                  <a:lnTo>
                    <a:pt x="8959888" y="4379658"/>
                  </a:lnTo>
                  <a:close/>
                </a:path>
                <a:path w="8960485" h="4814570">
                  <a:moveTo>
                    <a:pt x="8959888" y="13627"/>
                  </a:moveTo>
                  <a:lnTo>
                    <a:pt x="8958059" y="9194"/>
                  </a:lnTo>
                  <a:lnTo>
                    <a:pt x="8950706" y="1841"/>
                  </a:lnTo>
                  <a:lnTo>
                    <a:pt x="8946286" y="0"/>
                  </a:lnTo>
                  <a:lnTo>
                    <a:pt x="6276937" y="0"/>
                  </a:lnTo>
                  <a:lnTo>
                    <a:pt x="6276937" y="434632"/>
                  </a:lnTo>
                  <a:lnTo>
                    <a:pt x="8959888" y="434632"/>
                  </a:lnTo>
                  <a:lnTo>
                    <a:pt x="8959888" y="13627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34918" y="1195209"/>
          <a:ext cx="9036685" cy="4810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8525"/>
                <a:gridCol w="2682875"/>
                <a:gridCol w="2691129"/>
                <a:gridCol w="2686685"/>
              </a:tblGrid>
              <a:tr h="43434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R w="9525">
                      <a:solidFill>
                        <a:srgbClr val="F9F6F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Accessories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Jewelry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171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Accessories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Sunglasses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161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Accessories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Belt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161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Clothing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Blouse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171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04775"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Clothing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Pants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171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F9F6F0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Clothing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Shirt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169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Footwear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Sandals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160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Footwear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Shoes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150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Footwear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Sneakers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145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Outerwear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Jacket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163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5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R w="9525">
                      <a:solidFill>
                        <a:srgbClr val="F9F6F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1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Outerwear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0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Coat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  <a:lnR w="9525">
                      <a:solidFill>
                        <a:srgbClr val="F9F6F0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150" spc="-25">
                          <a:solidFill>
                            <a:srgbClr val="736458"/>
                          </a:solidFill>
                          <a:latin typeface="Georgia"/>
                          <a:cs typeface="Georgia"/>
                        </a:rPr>
                        <a:t>161</a:t>
                      </a:r>
                      <a:endParaRPr sz="1150">
                        <a:latin typeface="Georgia"/>
                        <a:cs typeface="Georgia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F9F6F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pic>
        <p:nvPicPr>
          <p:cNvPr id="8" name="object 8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6585" y="5989085"/>
            <a:ext cx="1539563" cy="3677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375" y="3702050"/>
            <a:ext cx="493903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80" b="1">
                <a:solidFill>
                  <a:srgbClr val="484137"/>
                </a:solidFill>
                <a:latin typeface="Georgia"/>
                <a:cs typeface="Georgia"/>
              </a:rPr>
              <a:t>Dashboard</a:t>
            </a:r>
            <a:r>
              <a:rPr dirty="0" sz="3350" spc="-130" b="1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dirty="0" sz="3350" b="1">
                <a:solidFill>
                  <a:srgbClr val="484137"/>
                </a:solidFill>
                <a:latin typeface="Georgia"/>
                <a:cs typeface="Georgia"/>
              </a:rPr>
              <a:t>in</a:t>
            </a:r>
            <a:r>
              <a:rPr dirty="0" sz="3350" spc="-125" b="1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dirty="0" sz="3350" spc="-70" b="1">
                <a:solidFill>
                  <a:srgbClr val="484137"/>
                </a:solidFill>
                <a:latin typeface="Georgia"/>
                <a:cs typeface="Georgia"/>
              </a:rPr>
              <a:t>Power</a:t>
            </a:r>
            <a:r>
              <a:rPr dirty="0" sz="3350" spc="-130" b="1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dirty="0" sz="3350" spc="-25" b="1">
                <a:solidFill>
                  <a:srgbClr val="484137"/>
                </a:solidFill>
                <a:latin typeface="Georgia"/>
                <a:cs typeface="Georgia"/>
              </a:rPr>
              <a:t>BI</a:t>
            </a:r>
            <a:endParaRPr sz="33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375" y="4549775"/>
            <a:ext cx="447611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Interactive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visualization</a:t>
            </a:r>
            <a:r>
              <a:rPr dirty="0" sz="1350" spc="-2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of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key</a:t>
            </a:r>
            <a:r>
              <a:rPr dirty="0" sz="1350" spc="-2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customer</a:t>
            </a:r>
            <a:r>
              <a:rPr dirty="0" sz="1350" spc="-15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458"/>
                </a:solidFill>
                <a:latin typeface="Georgia"/>
                <a:cs typeface="Georgia"/>
              </a:rPr>
              <a:t>behavior</a:t>
            </a:r>
            <a:r>
              <a:rPr dirty="0" sz="1350" spc="-20">
                <a:solidFill>
                  <a:srgbClr val="7364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458"/>
                </a:solidFill>
                <a:latin typeface="Georgia"/>
                <a:cs typeface="Georgia"/>
              </a:rPr>
              <a:t>insights.</a:t>
            </a:r>
            <a:endParaRPr sz="1350">
              <a:latin typeface="Georgia"/>
              <a:cs typeface="Georgia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987425"/>
            <a:ext cx="46729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0"/>
              <a:t>Dashboard</a:t>
            </a:r>
            <a:r>
              <a:rPr dirty="0" spc="-145"/>
              <a:t> </a:t>
            </a:r>
            <a:r>
              <a:rPr dirty="0" spc="-60"/>
              <a:t>Highlights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609" y="2118310"/>
            <a:ext cx="2358753" cy="23587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7924" y="4600574"/>
            <a:ext cx="171449" cy="1714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682428" y="4549775"/>
            <a:ext cx="2882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736558"/>
                </a:solidFill>
                <a:latin typeface="Georgia"/>
                <a:cs typeface="Georgia"/>
              </a:rPr>
              <a:t>Yes</a:t>
            </a:r>
            <a:endParaRPr sz="135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52774" y="4600574"/>
            <a:ext cx="171449" cy="1714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383111" y="4549775"/>
            <a:ext cx="24955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736558"/>
                </a:solidFill>
                <a:latin typeface="Georgia"/>
                <a:cs typeface="Georgia"/>
              </a:rPr>
              <a:t>No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374" y="4968874"/>
            <a:ext cx="259207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27% of customers are 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subscribers.</a:t>
            </a:r>
            <a:endParaRPr sz="135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70590" y="2089881"/>
            <a:ext cx="4272915" cy="2540635"/>
            <a:chOff x="6570590" y="2089881"/>
            <a:chExt cx="4272915" cy="2540635"/>
          </a:xfrm>
        </p:grpSpPr>
        <p:sp>
          <p:nvSpPr>
            <p:cNvPr id="11" name="object 11"/>
            <p:cNvSpPr/>
            <p:nvPr/>
          </p:nvSpPr>
          <p:spPr>
            <a:xfrm>
              <a:off x="6615987" y="4623707"/>
              <a:ext cx="4224020" cy="0"/>
            </a:xfrm>
            <a:custGeom>
              <a:avLst/>
              <a:gdLst/>
              <a:ahLst/>
              <a:cxnLst/>
              <a:rect l="l" t="t" r="r" b="b"/>
              <a:pathLst>
                <a:path w="4224020" h="0">
                  <a:moveTo>
                    <a:pt x="0" y="0"/>
                  </a:moveTo>
                  <a:lnTo>
                    <a:pt x="4223907" y="0"/>
                  </a:lnTo>
                </a:path>
              </a:pathLst>
            </a:custGeom>
            <a:ln w="6454">
              <a:solidFill>
                <a:srgbClr val="7365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615987" y="3778111"/>
              <a:ext cx="4224020" cy="0"/>
            </a:xfrm>
            <a:custGeom>
              <a:avLst/>
              <a:gdLst/>
              <a:ahLst/>
              <a:cxnLst/>
              <a:rect l="l" t="t" r="r" b="b"/>
              <a:pathLst>
                <a:path w="4224020" h="0">
                  <a:moveTo>
                    <a:pt x="0" y="0"/>
                  </a:moveTo>
                  <a:lnTo>
                    <a:pt x="4223907" y="0"/>
                  </a:lnTo>
                </a:path>
              </a:pathLst>
            </a:custGeom>
            <a:ln w="6454">
              <a:solidFill>
                <a:srgbClr val="7365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615987" y="2938970"/>
              <a:ext cx="4224020" cy="0"/>
            </a:xfrm>
            <a:custGeom>
              <a:avLst/>
              <a:gdLst/>
              <a:ahLst/>
              <a:cxnLst/>
              <a:rect l="l" t="t" r="r" b="b"/>
              <a:pathLst>
                <a:path w="4224020" h="0">
                  <a:moveTo>
                    <a:pt x="0" y="0"/>
                  </a:moveTo>
                  <a:lnTo>
                    <a:pt x="4223907" y="0"/>
                  </a:lnTo>
                </a:path>
              </a:pathLst>
            </a:custGeom>
            <a:ln w="6454">
              <a:solidFill>
                <a:srgbClr val="7365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615987" y="2093374"/>
              <a:ext cx="4224020" cy="0"/>
            </a:xfrm>
            <a:custGeom>
              <a:avLst/>
              <a:gdLst/>
              <a:ahLst/>
              <a:cxnLst/>
              <a:rect l="l" t="t" r="r" b="b"/>
              <a:pathLst>
                <a:path w="4224020" h="0">
                  <a:moveTo>
                    <a:pt x="0" y="0"/>
                  </a:moveTo>
                  <a:lnTo>
                    <a:pt x="4223907" y="0"/>
                  </a:lnTo>
                </a:path>
              </a:pathLst>
            </a:custGeom>
            <a:ln w="6454">
              <a:solidFill>
                <a:srgbClr val="7365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910228" y="2093374"/>
              <a:ext cx="687070" cy="2527935"/>
            </a:xfrm>
            <a:custGeom>
              <a:avLst/>
              <a:gdLst/>
              <a:ahLst/>
              <a:cxnLst/>
              <a:rect l="l" t="t" r="r" b="b"/>
              <a:pathLst>
                <a:path w="687070" h="2527935">
                  <a:moveTo>
                    <a:pt x="686562" y="2527751"/>
                  </a:moveTo>
                  <a:lnTo>
                    <a:pt x="0" y="2527751"/>
                  </a:lnTo>
                  <a:lnTo>
                    <a:pt x="0" y="27994"/>
                  </a:lnTo>
                  <a:lnTo>
                    <a:pt x="27995" y="0"/>
                  </a:lnTo>
                  <a:lnTo>
                    <a:pt x="32275" y="0"/>
                  </a:lnTo>
                  <a:lnTo>
                    <a:pt x="658566" y="0"/>
                  </a:lnTo>
                  <a:lnTo>
                    <a:pt x="686562" y="27994"/>
                  </a:lnTo>
                  <a:lnTo>
                    <a:pt x="686562" y="2527751"/>
                  </a:lnTo>
                  <a:close/>
                </a:path>
              </a:pathLst>
            </a:custGeom>
            <a:solidFill>
              <a:srgbClr val="2F26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891032" y="2938970"/>
              <a:ext cx="687070" cy="1682750"/>
            </a:xfrm>
            <a:custGeom>
              <a:avLst/>
              <a:gdLst/>
              <a:ahLst/>
              <a:cxnLst/>
              <a:rect l="l" t="t" r="r" b="b"/>
              <a:pathLst>
                <a:path w="687070" h="1682750">
                  <a:moveTo>
                    <a:pt x="686562" y="1682155"/>
                  </a:moveTo>
                  <a:lnTo>
                    <a:pt x="0" y="1682155"/>
                  </a:lnTo>
                  <a:lnTo>
                    <a:pt x="0" y="27994"/>
                  </a:lnTo>
                  <a:lnTo>
                    <a:pt x="27995" y="0"/>
                  </a:lnTo>
                  <a:lnTo>
                    <a:pt x="32275" y="0"/>
                  </a:lnTo>
                  <a:lnTo>
                    <a:pt x="658566" y="0"/>
                  </a:lnTo>
                  <a:lnTo>
                    <a:pt x="686561" y="27994"/>
                  </a:lnTo>
                  <a:lnTo>
                    <a:pt x="686562" y="1682155"/>
                  </a:lnTo>
                  <a:close/>
                </a:path>
              </a:pathLst>
            </a:custGeom>
            <a:solidFill>
              <a:srgbClr val="4E3F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871834" y="3565098"/>
              <a:ext cx="687070" cy="1056640"/>
            </a:xfrm>
            <a:custGeom>
              <a:avLst/>
              <a:gdLst/>
              <a:ahLst/>
              <a:cxnLst/>
              <a:rect l="l" t="t" r="r" b="b"/>
              <a:pathLst>
                <a:path w="687070" h="1056639">
                  <a:moveTo>
                    <a:pt x="686562" y="1056026"/>
                  </a:moveTo>
                  <a:lnTo>
                    <a:pt x="0" y="1056026"/>
                  </a:lnTo>
                  <a:lnTo>
                    <a:pt x="0" y="27994"/>
                  </a:lnTo>
                  <a:lnTo>
                    <a:pt x="27995" y="0"/>
                  </a:lnTo>
                  <a:lnTo>
                    <a:pt x="32275" y="0"/>
                  </a:lnTo>
                  <a:lnTo>
                    <a:pt x="658566" y="0"/>
                  </a:lnTo>
                  <a:lnTo>
                    <a:pt x="686561" y="27994"/>
                  </a:lnTo>
                  <a:lnTo>
                    <a:pt x="686562" y="1056026"/>
                  </a:lnTo>
                  <a:close/>
                </a:path>
              </a:pathLst>
            </a:custGeom>
            <a:solidFill>
              <a:srgbClr val="6B57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852638" y="4197681"/>
              <a:ext cx="687070" cy="423545"/>
            </a:xfrm>
            <a:custGeom>
              <a:avLst/>
              <a:gdLst/>
              <a:ahLst/>
              <a:cxnLst/>
              <a:rect l="l" t="t" r="r" b="b"/>
              <a:pathLst>
                <a:path w="687070" h="423545">
                  <a:moveTo>
                    <a:pt x="686562" y="423443"/>
                  </a:moveTo>
                  <a:lnTo>
                    <a:pt x="0" y="423443"/>
                  </a:lnTo>
                  <a:lnTo>
                    <a:pt x="0" y="27994"/>
                  </a:lnTo>
                  <a:lnTo>
                    <a:pt x="27995" y="0"/>
                  </a:lnTo>
                  <a:lnTo>
                    <a:pt x="32275" y="0"/>
                  </a:lnTo>
                  <a:lnTo>
                    <a:pt x="658566" y="0"/>
                  </a:lnTo>
                  <a:lnTo>
                    <a:pt x="686561" y="27994"/>
                  </a:lnTo>
                  <a:lnTo>
                    <a:pt x="686562" y="423443"/>
                  </a:lnTo>
                  <a:close/>
                </a:path>
              </a:pathLst>
            </a:custGeom>
            <a:solidFill>
              <a:srgbClr val="8A6F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577257" y="4623707"/>
              <a:ext cx="38735" cy="0"/>
            </a:xfrm>
            <a:custGeom>
              <a:avLst/>
              <a:gdLst/>
              <a:ahLst/>
              <a:cxnLst/>
              <a:rect l="l" t="t" r="r" b="b"/>
              <a:pathLst>
                <a:path w="38734" h="0">
                  <a:moveTo>
                    <a:pt x="38730" y="0"/>
                  </a:moveTo>
                  <a:lnTo>
                    <a:pt x="0" y="0"/>
                  </a:lnTo>
                </a:path>
              </a:pathLst>
            </a:custGeom>
            <a:ln w="12909">
              <a:solidFill>
                <a:srgbClr val="7365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293353" y="4550445"/>
            <a:ext cx="27114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736558"/>
                </a:solidFill>
                <a:latin typeface="Georgia"/>
                <a:cs typeface="Georgia"/>
              </a:rPr>
              <a:t>$0.00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77258" y="3778111"/>
            <a:ext cx="38735" cy="0"/>
          </a:xfrm>
          <a:custGeom>
            <a:avLst/>
            <a:gdLst/>
            <a:ahLst/>
            <a:cxnLst/>
            <a:rect l="l" t="t" r="r" b="b"/>
            <a:pathLst>
              <a:path w="38734" h="0">
                <a:moveTo>
                  <a:pt x="38730" y="0"/>
                </a:moveTo>
                <a:lnTo>
                  <a:pt x="0" y="0"/>
                </a:lnTo>
              </a:path>
            </a:pathLst>
          </a:custGeom>
          <a:ln w="12909">
            <a:solidFill>
              <a:srgbClr val="7365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96587" y="3704810"/>
            <a:ext cx="5676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736558"/>
                </a:solidFill>
                <a:latin typeface="Georgia"/>
                <a:cs typeface="Georgia"/>
              </a:rPr>
              <a:t>$400,000.00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77258" y="2938970"/>
            <a:ext cx="38735" cy="0"/>
          </a:xfrm>
          <a:custGeom>
            <a:avLst/>
            <a:gdLst/>
            <a:ahLst/>
            <a:cxnLst/>
            <a:rect l="l" t="t" r="r" b="b"/>
            <a:pathLst>
              <a:path w="38734" h="0">
                <a:moveTo>
                  <a:pt x="38730" y="0"/>
                </a:moveTo>
                <a:lnTo>
                  <a:pt x="0" y="0"/>
                </a:lnTo>
              </a:path>
            </a:pathLst>
          </a:custGeom>
          <a:ln w="12909">
            <a:solidFill>
              <a:srgbClr val="7365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993759" y="2865723"/>
            <a:ext cx="5708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736558"/>
                </a:solidFill>
                <a:latin typeface="Georgia"/>
                <a:cs typeface="Georgia"/>
              </a:rPr>
              <a:t>$800,000.00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577258" y="2093374"/>
            <a:ext cx="38735" cy="0"/>
          </a:xfrm>
          <a:custGeom>
            <a:avLst/>
            <a:gdLst/>
            <a:ahLst/>
            <a:cxnLst/>
            <a:rect l="l" t="t" r="r" b="b"/>
            <a:pathLst>
              <a:path w="38734" h="0">
                <a:moveTo>
                  <a:pt x="38730" y="0"/>
                </a:moveTo>
                <a:lnTo>
                  <a:pt x="0" y="0"/>
                </a:lnTo>
              </a:path>
            </a:pathLst>
          </a:custGeom>
          <a:ln w="12909">
            <a:solidFill>
              <a:srgbClr val="7365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934079" y="2020237"/>
            <a:ext cx="63055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736558"/>
                </a:solidFill>
                <a:latin typeface="Georgia"/>
                <a:cs typeface="Georgia"/>
              </a:rPr>
              <a:t>$1,200,000.00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09320" y="2089934"/>
            <a:ext cx="650875" cy="2576830"/>
            <a:chOff x="6609320" y="2089934"/>
            <a:chExt cx="650875" cy="2576830"/>
          </a:xfrm>
        </p:grpSpPr>
        <p:sp>
          <p:nvSpPr>
            <p:cNvPr id="28" name="object 28"/>
            <p:cNvSpPr/>
            <p:nvPr/>
          </p:nvSpPr>
          <p:spPr>
            <a:xfrm>
              <a:off x="6615988" y="2096601"/>
              <a:ext cx="0" cy="2527935"/>
            </a:xfrm>
            <a:custGeom>
              <a:avLst/>
              <a:gdLst/>
              <a:ahLst/>
              <a:cxnLst/>
              <a:rect l="l" t="t" r="r" b="b"/>
              <a:pathLst>
                <a:path w="0" h="2527935">
                  <a:moveTo>
                    <a:pt x="0" y="2527751"/>
                  </a:moveTo>
                  <a:lnTo>
                    <a:pt x="0" y="0"/>
                  </a:lnTo>
                </a:path>
              </a:pathLst>
            </a:custGeom>
            <a:ln w="12910">
              <a:solidFill>
                <a:srgbClr val="7365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253510" y="4621124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w="0" h="38735">
                  <a:moveTo>
                    <a:pt x="0" y="0"/>
                  </a:moveTo>
                  <a:lnTo>
                    <a:pt x="0" y="38729"/>
                  </a:lnTo>
                </a:path>
              </a:pathLst>
            </a:custGeom>
            <a:ln w="12910">
              <a:solidFill>
                <a:srgbClr val="7365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069867" y="4647161"/>
            <a:ext cx="367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736558"/>
                </a:solidFill>
                <a:latin typeface="Georgia"/>
                <a:cs typeface="Georgia"/>
              </a:rPr>
              <a:t>Clothing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234312" y="4621124"/>
            <a:ext cx="0" cy="38735"/>
          </a:xfrm>
          <a:custGeom>
            <a:avLst/>
            <a:gdLst/>
            <a:ahLst/>
            <a:cxnLst/>
            <a:rect l="l" t="t" r="r" b="b"/>
            <a:pathLst>
              <a:path w="0" h="38735">
                <a:moveTo>
                  <a:pt x="0" y="0"/>
                </a:moveTo>
                <a:lnTo>
                  <a:pt x="0" y="38729"/>
                </a:lnTo>
              </a:path>
            </a:pathLst>
          </a:custGeom>
          <a:ln w="12910">
            <a:solidFill>
              <a:srgbClr val="7365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992311" y="4647161"/>
            <a:ext cx="48450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736558"/>
                </a:solidFill>
                <a:latin typeface="Georgia"/>
                <a:cs typeface="Georgia"/>
              </a:rPr>
              <a:t>Accessories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215115" y="4621124"/>
            <a:ext cx="0" cy="38735"/>
          </a:xfrm>
          <a:custGeom>
            <a:avLst/>
            <a:gdLst/>
            <a:ahLst/>
            <a:cxnLst/>
            <a:rect l="l" t="t" r="r" b="b"/>
            <a:pathLst>
              <a:path w="0" h="38735">
                <a:moveTo>
                  <a:pt x="0" y="0"/>
                </a:moveTo>
                <a:lnTo>
                  <a:pt x="0" y="38729"/>
                </a:lnTo>
              </a:path>
            </a:pathLst>
          </a:custGeom>
          <a:ln w="12910">
            <a:solidFill>
              <a:srgbClr val="7365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014917" y="4647161"/>
            <a:ext cx="4006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736558"/>
                </a:solidFill>
                <a:latin typeface="Georgia"/>
                <a:cs typeface="Georgia"/>
              </a:rPr>
              <a:t>Footwear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95919" y="4621124"/>
            <a:ext cx="0" cy="38735"/>
          </a:xfrm>
          <a:custGeom>
            <a:avLst/>
            <a:gdLst/>
            <a:ahLst/>
            <a:cxnLst/>
            <a:rect l="l" t="t" r="r" b="b"/>
            <a:pathLst>
              <a:path w="0" h="38735">
                <a:moveTo>
                  <a:pt x="0" y="0"/>
                </a:moveTo>
                <a:lnTo>
                  <a:pt x="0" y="38729"/>
                </a:lnTo>
              </a:path>
            </a:pathLst>
          </a:custGeom>
          <a:ln w="12910">
            <a:solidFill>
              <a:srgbClr val="7365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0067437" y="4647161"/>
            <a:ext cx="25717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736558"/>
                </a:solidFill>
                <a:latin typeface="Georgia"/>
                <a:cs typeface="Georgia"/>
              </a:rPr>
              <a:t>Other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619215" y="4621124"/>
            <a:ext cx="4217670" cy="0"/>
          </a:xfrm>
          <a:custGeom>
            <a:avLst/>
            <a:gdLst/>
            <a:ahLst/>
            <a:cxnLst/>
            <a:rect l="l" t="t" r="r" b="b"/>
            <a:pathLst>
              <a:path w="4217670" h="0">
                <a:moveTo>
                  <a:pt x="0" y="0"/>
                </a:moveTo>
                <a:lnTo>
                  <a:pt x="4217452" y="0"/>
                </a:lnTo>
              </a:path>
            </a:pathLst>
          </a:custGeom>
          <a:ln w="12909">
            <a:solidFill>
              <a:srgbClr val="7365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920928" y="4968874"/>
            <a:ext cx="19919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Clothing</a:t>
            </a:r>
            <a:r>
              <a:rPr dirty="0" sz="1350" spc="-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leads</a:t>
            </a:r>
            <a:r>
              <a:rPr dirty="0" sz="1350" spc="-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dirty="0" sz="1350" spc="-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revenue.</a:t>
            </a:r>
            <a:endParaRPr sz="1350">
              <a:latin typeface="Georgia"/>
              <a:cs typeface="Georgia"/>
            </a:endParaRPr>
          </a:p>
        </p:txBody>
      </p:sp>
      <p:pic>
        <p:nvPicPr>
          <p:cNvPr id="39" name="object 39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369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25"/>
              </a:spcBef>
            </a:pPr>
            <a:r>
              <a:rPr dirty="0" spc="-60"/>
              <a:t>Business</a:t>
            </a:r>
            <a:r>
              <a:rPr dirty="0" spc="-145"/>
              <a:t> </a:t>
            </a:r>
            <a:r>
              <a:rPr dirty="0" spc="-80"/>
              <a:t>Recommendations</a:t>
            </a:r>
          </a:p>
        </p:txBody>
      </p:sp>
      <p:sp>
        <p:nvSpPr>
          <p:cNvPr id="4" name="object 4"/>
          <p:cNvSpPr/>
          <p:nvPr/>
        </p:nvSpPr>
        <p:spPr>
          <a:xfrm>
            <a:off x="666749" y="1386714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4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7365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6749" y="23677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4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7365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6749" y="33583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4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7365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6749" y="43489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4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7365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6749" y="53395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4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7365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44587" y="1325562"/>
            <a:ext cx="4761230" cy="4589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736558"/>
                </a:solidFill>
                <a:latin typeface="Georgia"/>
                <a:cs typeface="Georgia"/>
              </a:rPr>
              <a:t>Boost</a:t>
            </a:r>
            <a:r>
              <a:rPr dirty="0" sz="1650" spc="-10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558"/>
                </a:solidFill>
                <a:latin typeface="Georgia"/>
                <a:cs typeface="Georgia"/>
              </a:rPr>
              <a:t>Subscriptions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Promote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exclusive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benefits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increase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subscriber</a:t>
            </a:r>
            <a:r>
              <a:rPr dirty="0" sz="1350" spc="-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base.</a:t>
            </a:r>
            <a:endParaRPr sz="13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650" spc="-25" b="1">
                <a:solidFill>
                  <a:srgbClr val="736558"/>
                </a:solidFill>
                <a:latin typeface="Georgia"/>
                <a:cs typeface="Georgia"/>
              </a:rPr>
              <a:t>Customer</a:t>
            </a:r>
            <a:r>
              <a:rPr dirty="0" sz="1650" spc="-55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558"/>
                </a:solidFill>
                <a:latin typeface="Georgia"/>
                <a:cs typeface="Georgia"/>
              </a:rPr>
              <a:t>Loyalty</a:t>
            </a:r>
            <a:r>
              <a:rPr dirty="0" sz="1650" spc="-5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558"/>
                </a:solidFill>
                <a:latin typeface="Georgia"/>
                <a:cs typeface="Georgia"/>
              </a:rPr>
              <a:t>Programs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Reward repeat buyers to foster 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loyalty.</a:t>
            </a:r>
            <a:endParaRPr sz="13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50" spc="-20" b="1">
                <a:solidFill>
                  <a:srgbClr val="736558"/>
                </a:solidFill>
                <a:latin typeface="Georgia"/>
                <a:cs typeface="Georgia"/>
              </a:rPr>
              <a:t>Review</a:t>
            </a:r>
            <a:r>
              <a:rPr dirty="0" sz="1650" spc="-5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spc="-25" b="1">
                <a:solidFill>
                  <a:srgbClr val="736558"/>
                </a:solidFill>
                <a:latin typeface="Georgia"/>
                <a:cs typeface="Georgia"/>
              </a:rPr>
              <a:t>Discount</a:t>
            </a:r>
            <a:r>
              <a:rPr dirty="0" sz="1650" spc="-45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558"/>
                </a:solidFill>
                <a:latin typeface="Georgia"/>
                <a:cs typeface="Georgia"/>
              </a:rPr>
              <a:t>Policy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Balance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sales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boosts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with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margin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control.</a:t>
            </a:r>
            <a:endParaRPr sz="13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650" spc="-20" b="1">
                <a:solidFill>
                  <a:srgbClr val="736558"/>
                </a:solidFill>
                <a:latin typeface="Georgia"/>
                <a:cs typeface="Georgia"/>
              </a:rPr>
              <a:t>Product</a:t>
            </a:r>
            <a:r>
              <a:rPr dirty="0" sz="1650" spc="-65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558"/>
                </a:solidFill>
                <a:latin typeface="Georgia"/>
                <a:cs typeface="Georgia"/>
              </a:rPr>
              <a:t>Positioning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Highlight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top-rated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best-selling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products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campaigns.</a:t>
            </a:r>
            <a:endParaRPr sz="13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650" spc="-25" b="1">
                <a:solidFill>
                  <a:srgbClr val="736558"/>
                </a:solidFill>
                <a:latin typeface="Georgia"/>
                <a:cs typeface="Georgia"/>
              </a:rPr>
              <a:t>Targeted</a:t>
            </a:r>
            <a:r>
              <a:rPr dirty="0" sz="1650" spc="-30" b="1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650" spc="-10" b="1">
                <a:solidFill>
                  <a:srgbClr val="736558"/>
                </a:solidFill>
                <a:latin typeface="Georgia"/>
                <a:cs typeface="Georgia"/>
              </a:rPr>
              <a:t>Marketing</a:t>
            </a:r>
            <a:endParaRPr sz="16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Focus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on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high-revenue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age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groups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 express-</a:t>
            </a:r>
            <a:r>
              <a:rPr dirty="0" sz="1350">
                <a:solidFill>
                  <a:srgbClr val="736558"/>
                </a:solidFill>
                <a:latin typeface="Georgia"/>
                <a:cs typeface="Georgia"/>
              </a:rPr>
              <a:t>shipping</a:t>
            </a:r>
            <a:r>
              <a:rPr dirty="0" sz="1350" spc="-15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dirty="0" sz="1350" spc="-10">
                <a:solidFill>
                  <a:srgbClr val="736558"/>
                </a:solidFill>
                <a:latin typeface="Georgia"/>
                <a:cs typeface="Georgia"/>
              </a:rPr>
              <a:t>users.</a:t>
            </a:r>
            <a:endParaRPr sz="1350">
              <a:latin typeface="Georgia"/>
              <a:cs typeface="Georgia"/>
            </a:endParaRPr>
          </a:p>
        </p:txBody>
      </p:sp>
      <p:pic>
        <p:nvPicPr>
          <p:cNvPr id="10" name="object 10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2026-01-15T15:47:49Z</dcterms:created>
  <dcterms:modified xsi:type="dcterms:W3CDTF">2026-01-15T15:47:49Z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2026-01-15T00:00:00Z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2026-01-15T00:00:00Z</vt:filetime>
  </property>
  <property fmtid="{D5CDD505-2E9C-101B-9397-08002B2CF9AE}" pid="5" name="Producer">
    <vt:lpwstr>pdf-lib (https://github.com/Hopding/pdf-lib)</vt:lpwstr>
  </property>
</Properties>
</file>